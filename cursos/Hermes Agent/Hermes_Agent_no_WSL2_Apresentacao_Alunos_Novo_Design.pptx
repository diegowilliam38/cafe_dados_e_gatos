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deck; original course copy and embedded assets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6" y="502920"/>
            <a:ext cx="2176272" cy="217627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49B2D4D-C564-442E-BE68-4574F84E8D4F}"/>
              </a:ext>
            </a:extLst>
          </p:cNvPr>
          <p:cNvSpPr>
            <a:spLocks noGrp="1"/>
          </p:cNvSpPr>
          <p:nvPr/>
        </p:nvSpPr>
        <p:spPr>
          <a:xfrm>
            <a:off x="1143000" y="2880360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Hermes Agent no WSL2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BDE49F5-4238-4026-9C7C-C19B02A45A58}"/>
              </a:ext>
            </a:extLst>
          </p:cNvPr>
          <p:cNvSpPr>
            <a:spLocks noGrp="1"/>
          </p:cNvSpPr>
          <p:nvPr/>
        </p:nvSpPr>
        <p:spPr>
          <a:xfrm>
            <a:off x="1325880" y="3703320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>
                <a:solidFill>
                  <a:srgbClr val="D9D9D4"/>
                </a:solidFill>
              </a:rPr>
              <a:t>Instalação · exploração do Hermes · projeto prático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30D4440-FBD4-40C0-A483-50794086AB65}"/>
              </a:ext>
            </a:extLst>
          </p:cNvPr>
          <p:cNvSpPr>
            <a:spLocks noGrp="1"/>
          </p:cNvSpPr>
          <p:nvPr/>
        </p:nvSpPr>
        <p:spPr>
          <a:xfrm>
            <a:off x="4251960" y="4315968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E6AC22"/>
                </a:solidFill>
              </a:rPr>
              <a:t>Curso em 3 aulas · Edição 2026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19AEA6F-6BA5-4A95-B8B0-F40A8C9BB69B}"/>
              </a:ext>
            </a:extLst>
          </p:cNvPr>
          <p:cNvSpPr>
            <a:spLocks noGrp="1"/>
          </p:cNvSpPr>
          <p:nvPr/>
        </p:nvSpPr>
        <p:spPr>
          <a:xfrm>
            <a:off x="4617720" y="4828032"/>
            <a:ext cx="2926080" cy="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B8E34CE-E7AD-4581-8277-C100B3745D15}"/>
              </a:ext>
            </a:extLst>
          </p:cNvPr>
          <p:cNvSpPr>
            <a:spLocks noGrp="1"/>
          </p:cNvSpPr>
          <p:nvPr/>
        </p:nvSpPr>
        <p:spPr>
          <a:xfrm>
            <a:off x="2880360" y="55046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rgbClr val="A9B2B6"/>
                </a:solidFill>
              </a:rPr>
              <a:t>Windows 11 · WSL2 · Ubuntu · Ollama · Hermes Agent</a:t>
            </a:r>
          </a:p>
        </p:txBody>
      </p:sp>
    </p:spTree>
    <p:extLst>
      <p:ext uri="{BB962C8B-B14F-4D97-AF65-F5344CB8AC3E}">
        <p14:creationId xmlns:p14="http://schemas.microsoft.com/office/powerpoint/2010/main" val="946642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496961-4710-448C-8A41-D412FD7167D9}"/>
              </a:ext>
            </a:extLst>
          </p:cNvPr>
          <p:cNvSpPr>
            <a:spLocks noGrp="1"/>
          </p:cNvSpPr>
          <p:nvPr/>
        </p:nvSpPr>
        <p:spPr>
          <a:xfrm>
            <a:off x="685800" y="38404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E6AC22"/>
                </a:solidFill>
                <a:latin typeface="Aptos"/>
                <a:ea typeface="Aptos"/>
                <a:cs typeface="Aptos"/>
              </a:rPr>
              <a:t>CURSO PRÁTICO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92A2DA-00E9-495C-80D2-BF0FDBB2CA41}"/>
              </a:ext>
            </a:extLst>
          </p:cNvPr>
          <p:cNvSpPr>
            <a:spLocks noGrp="1"/>
          </p:cNvSpPr>
          <p:nvPr/>
        </p:nvSpPr>
        <p:spPr>
          <a:xfrm>
            <a:off x="685800" y="65836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B1D24"/>
                </a:solidFill>
                <a:latin typeface="Aptos Display"/>
                <a:ea typeface="Aptos Display"/>
                <a:cs typeface="Aptos Display"/>
              </a:rPr>
              <a:t>O que este curso entrega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62AEAF-E4D3-48AF-9E14-09B2460B2BA3}"/>
              </a:ext>
            </a:extLst>
          </p:cNvPr>
          <p:cNvSpPr>
            <a:spLocks noGrp="1"/>
          </p:cNvSpPr>
          <p:nvPr/>
        </p:nvSpPr>
        <p:spPr>
          <a:xfrm>
            <a:off x="713232" y="1243584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6D7A80"/>
                </a:solidFill>
                <a:latin typeface="Aptos"/>
                <a:ea typeface="Aptos"/>
                <a:cs typeface="Aptos"/>
              </a:rPr>
              <a:t>Um caminho prático para sair do zero e terminar com um agente criando uma aplicação local.</a:t>
            </a:r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06840" y="1691640"/>
            <a:ext cx="1920240" cy="19202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64FD62E-69F2-4B08-8034-EAD94BFCD1EA}"/>
              </a:ext>
            </a:extLst>
          </p:cNvPr>
          <p:cNvSpPr>
            <a:spLocks noGrp="1"/>
          </p:cNvSpPr>
          <p:nvPr/>
        </p:nvSpPr>
        <p:spPr>
          <a:xfrm>
            <a:off x="713232" y="1965960"/>
            <a:ext cx="3383280" cy="1371600"/>
          </a:xfrm>
          <a:prstGeom prst="rect">
            <a:avLst/>
          </a:prstGeom>
          <a:solidFill>
            <a:srgbClr val="FFF8EB"/>
          </a:solidFill>
          <a:ln w="15240">
            <a:solidFill>
              <a:srgbClr val="E6AC22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t">
            <a:normAutofit/>
          </a:bodyPr>
          <a:lstStyle/>
          <a:p>
            <a:pPr marL="0" indent="0" algn="ctr">
              <a:buNone/>
            </a:pPr>
            <a:endParaRPr/>
          </a:p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Você instala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WSL2, Ubuntu, Ollama e Hermes em um fluxo guiado, sem misturar assuntos que não serão usados.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311CB19-13A2-4FD5-A7EC-FC98D6C212A1}"/>
              </a:ext>
            </a:extLst>
          </p:cNvPr>
          <p:cNvSpPr>
            <a:spLocks noGrp="1"/>
          </p:cNvSpPr>
          <p:nvPr/>
        </p:nvSpPr>
        <p:spPr>
          <a:xfrm>
            <a:off x="4370832" y="1965960"/>
            <a:ext cx="3383280" cy="1371600"/>
          </a:xfrm>
          <a:prstGeom prst="rect">
            <a:avLst/>
          </a:prstGeom>
          <a:solidFill>
            <a:srgbClr val="EAF5F6"/>
          </a:solidFill>
          <a:ln w="15240">
            <a:solidFill>
              <a:srgbClr val="2F8F9D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t">
            <a:normAutofit/>
          </a:bodyPr>
          <a:lstStyle/>
          <a:p>
            <a:pPr marL="0" indent="0" algn="ctr">
              <a:buNone/>
            </a:pPr>
            <a:endParaRPr/>
          </a:p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Você explora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Entende os painéis do Hermes antes de pedir tarefas maiores ao agente.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14CBEF-B882-461A-A15C-88040B12DB8B}"/>
              </a:ext>
            </a:extLst>
          </p:cNvPr>
          <p:cNvSpPr>
            <a:spLocks noGrp="1"/>
          </p:cNvSpPr>
          <p:nvPr/>
        </p:nvSpPr>
        <p:spPr>
          <a:xfrm>
            <a:off x="713232" y="3657600"/>
            <a:ext cx="3383280" cy="1371600"/>
          </a:xfrm>
          <a:prstGeom prst="rect">
            <a:avLst/>
          </a:prstGeom>
          <a:solidFill>
            <a:srgbClr val="FFF8EB"/>
          </a:solidFill>
          <a:ln w="15240">
            <a:solidFill>
              <a:srgbClr val="E6AC22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t">
            <a:normAutofit/>
          </a:bodyPr>
          <a:lstStyle/>
          <a:p>
            <a:pPr marL="0" indent="0" algn="ctr">
              <a:buNone/>
            </a:pPr>
            <a:endParaRPr/>
          </a:p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Você constrói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Cria o Painel de Ideias e Projetos conversando com o Hermes, em quatro prompts progressivos.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67BB027-D688-40B6-92B5-E5437A6763FD}"/>
              </a:ext>
            </a:extLst>
          </p:cNvPr>
          <p:cNvSpPr>
            <a:spLocks noGrp="1"/>
          </p:cNvSpPr>
          <p:nvPr/>
        </p:nvSpPr>
        <p:spPr>
          <a:xfrm>
            <a:off x="4370832" y="3657600"/>
            <a:ext cx="3383280" cy="1371600"/>
          </a:xfrm>
          <a:prstGeom prst="rect">
            <a:avLst/>
          </a:prstGeom>
          <a:solidFill>
            <a:srgbClr val="EAF5F6"/>
          </a:solidFill>
          <a:ln w="15240">
            <a:solidFill>
              <a:srgbClr val="2F8F9D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t">
            <a:normAutofit/>
          </a:bodyPr>
          <a:lstStyle/>
          <a:p>
            <a:pPr marL="0" indent="0" algn="ctr">
              <a:buNone/>
            </a:pPr>
            <a:endParaRPr/>
          </a:p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Você revisa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Confere aprovações, testes, backup e integração opcional com o Ollama Cloud.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1597647-4A74-4975-8306-80D52624D6B9}"/>
              </a:ext>
            </a:extLst>
          </p:cNvPr>
          <p:cNvSpPr>
            <a:spLocks noGrp="1"/>
          </p:cNvSpPr>
          <p:nvPr/>
        </p:nvSpPr>
        <p:spPr>
          <a:xfrm>
            <a:off x="8458200" y="3749040"/>
            <a:ext cx="2743200" cy="347472"/>
          </a:xfrm>
          <a:prstGeom prst="rect">
            <a:avLst/>
          </a:prstGeom>
          <a:solidFill>
            <a:srgbClr val="E6AC22"/>
          </a:solidFill>
          <a:ln>
            <a:solidFill>
              <a:srgbClr val="E6AC22"/>
            </a:solidFill>
          </a:ln>
        </p:spPr>
        <p:txBody>
          <a:bodyPr wrap="square" lIns="508" tIns="508" rIns="508" bIns="508" anchor="ctr"/>
          <a:lstStyle/>
          <a:p>
            <a:pPr marL="0" indent="0" algn="ctr">
              <a:buNone/>
            </a:pPr>
            <a:r>
              <a:rPr sz="1250" b="1">
                <a:solidFill>
                  <a:srgbClr val="0B1D24"/>
                </a:solidFill>
              </a:rPr>
              <a:t>Meta: autonomia com segurança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D17214F-560C-4205-94C8-BB21B59C18BA}"/>
              </a:ext>
            </a:extLst>
          </p:cNvPr>
          <p:cNvSpPr>
            <a:spLocks noGrp="1"/>
          </p:cNvSpPr>
          <p:nvPr/>
        </p:nvSpPr>
        <p:spPr>
          <a:xfrm>
            <a:off x="8412480" y="4315968"/>
            <a:ext cx="2880360" cy="658368"/>
          </a:xfrm>
          <a:prstGeom prst="rect">
            <a:avLst/>
          </a:prstGeom>
          <a:noFill/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30">
                <a:solidFill>
                  <a:srgbClr val="0B1D24"/>
                </a:solidFill>
              </a:rPr>
              <a:t>A ideia não é decorar comandos. É entender o fluxo, saber onde clicar e decidir o que aprovar.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EA565B5-DD94-42DF-BA72-EE1DB2F3080B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6D7A80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11935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>
            <a:extLst>
              <a:ext uri="{FF2B5EF4-FFF2-40B4-BE49-F238E27FC236}">
                <a16:creationId xmlns:a16="http://schemas.microsoft.com/office/drawing/2014/main" id="{1AF045DC-D853-4F11-B26A-D3EC4876288E}"/>
              </a:ext>
            </a:extLst>
          </p:cNvPr>
          <p:cNvSpPr>
            <a:spLocks noGrp="1"/>
          </p:cNvSpPr>
          <p:nvPr/>
        </p:nvSpPr>
        <p:spPr>
          <a:xfrm>
            <a:off x="1024128" y="2633472"/>
            <a:ext cx="0" cy="160020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E96877E-B974-4F33-971B-31E0F1242696}"/>
              </a:ext>
            </a:extLst>
          </p:cNvPr>
          <p:cNvSpPr>
            <a:spLocks noGrp="1"/>
          </p:cNvSpPr>
          <p:nvPr/>
        </p:nvSpPr>
        <p:spPr>
          <a:xfrm>
            <a:off x="685800" y="38404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E6AC22"/>
                </a:solidFill>
                <a:latin typeface="Aptos"/>
                <a:ea typeface="Aptos"/>
                <a:cs typeface="Aptos"/>
              </a:rPr>
              <a:t>CURSO PRÁTICO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CCADF4-F101-4283-9157-F80F5705F9DC}"/>
              </a:ext>
            </a:extLst>
          </p:cNvPr>
          <p:cNvSpPr>
            <a:spLocks noGrp="1"/>
          </p:cNvSpPr>
          <p:nvPr/>
        </p:nvSpPr>
        <p:spPr>
          <a:xfrm>
            <a:off x="685800" y="65836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B1D24"/>
                </a:solidFill>
                <a:latin typeface="Aptos Display"/>
                <a:ea typeface="Aptos Display"/>
                <a:cs typeface="Aptos Display"/>
              </a:rPr>
              <a:t>Roteiro das três aulas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26B9D-CB5D-4BE9-ABD1-91D58B29E931}"/>
              </a:ext>
            </a:extLst>
          </p:cNvPr>
          <p:cNvSpPr>
            <a:spLocks noGrp="1"/>
          </p:cNvSpPr>
          <p:nvPr/>
        </p:nvSpPr>
        <p:spPr>
          <a:xfrm>
            <a:off x="713232" y="1243584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6D7A80"/>
                </a:solidFill>
                <a:latin typeface="Aptos"/>
                <a:ea typeface="Aptos"/>
                <a:cs typeface="Aptos"/>
              </a:rPr>
              <a:t>Cada aula termina com uma conquista clara.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BCA2F0-D01F-4ADB-BD83-9CC62EF7F72C}"/>
              </a:ext>
            </a:extLst>
          </p:cNvPr>
          <p:cNvSpPr>
            <a:spLocks noGrp="1"/>
          </p:cNvSpPr>
          <p:nvPr/>
        </p:nvSpPr>
        <p:spPr>
          <a:xfrm>
            <a:off x="822960" y="1965960"/>
            <a:ext cx="411480" cy="658368"/>
          </a:xfrm>
          <a:prstGeom prst="rect">
            <a:avLst/>
          </a:prstGeom>
          <a:solidFill>
            <a:srgbClr val="E6AC22"/>
          </a:solidFill>
          <a:ln>
            <a:solidFill>
              <a:srgbClr val="E6AC22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600" b="1">
                <a:solidFill>
                  <a:srgbClr val="0B1D24"/>
                </a:solidFill>
              </a:rPr>
              <a:t>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5E043D-4458-4B6B-92FB-90AF3F41C009}"/>
              </a:ext>
            </a:extLst>
          </p:cNvPr>
          <p:cNvSpPr>
            <a:spLocks noGrp="1"/>
          </p:cNvSpPr>
          <p:nvPr/>
        </p:nvSpPr>
        <p:spPr>
          <a:xfrm>
            <a:off x="1325880" y="1965960"/>
            <a:ext cx="9921240" cy="658368"/>
          </a:xfrm>
          <a:prstGeom prst="rect">
            <a:avLst/>
          </a:prstGeom>
          <a:solidFill>
            <a:srgbClr val="FFF8EB"/>
          </a:solidFill>
          <a:ln>
            <a:solidFill>
              <a:srgbClr val="FFF8E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B1D24"/>
                </a:solidFill>
              </a:rPr>
              <a:t>Instalar tudo e executar o primeiro prompt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E898C6-33F8-4D23-A015-5A767E2C4A8F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411480" cy="658368"/>
          </a:xfrm>
          <a:prstGeom prst="rect">
            <a:avLst/>
          </a:prstGeom>
          <a:solidFill>
            <a:srgbClr val="E6AC22"/>
          </a:solidFill>
          <a:ln>
            <a:solidFill>
              <a:srgbClr val="E6AC22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600" b="1">
                <a:solidFill>
                  <a:srgbClr val="0B1D24"/>
                </a:solidFill>
              </a:rPr>
              <a:t>2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B843AA5-1BF4-4043-93A2-E1940A5CA61E}"/>
              </a:ext>
            </a:extLst>
          </p:cNvPr>
          <p:cNvSpPr>
            <a:spLocks noGrp="1"/>
          </p:cNvSpPr>
          <p:nvPr/>
        </p:nvSpPr>
        <p:spPr>
          <a:xfrm>
            <a:off x="1325880" y="2971800"/>
            <a:ext cx="9921240" cy="658368"/>
          </a:xfrm>
          <a:prstGeom prst="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B1D24"/>
                </a:solidFill>
              </a:rPr>
              <a:t>Conhecer o Hermes por dentro: Chat, Status, Sessions, Config, Skills, Logs e mais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C589CA-EDDE-4935-8BC9-6B2B20DB70AD}"/>
              </a:ext>
            </a:extLst>
          </p:cNvPr>
          <p:cNvSpPr>
            <a:spLocks noGrp="1"/>
          </p:cNvSpPr>
          <p:nvPr/>
        </p:nvSpPr>
        <p:spPr>
          <a:xfrm>
            <a:off x="822960" y="3977640"/>
            <a:ext cx="411480" cy="658368"/>
          </a:xfrm>
          <a:prstGeom prst="rect">
            <a:avLst/>
          </a:prstGeom>
          <a:solidFill>
            <a:srgbClr val="E6AC22"/>
          </a:solidFill>
          <a:ln>
            <a:solidFill>
              <a:srgbClr val="E6AC22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600" b="1">
                <a:solidFill>
                  <a:srgbClr val="0B1D24"/>
                </a:solidFill>
              </a:rPr>
              <a:t>3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E2DD41-56B8-4129-8F1A-A698B5A5D42B}"/>
              </a:ext>
            </a:extLst>
          </p:cNvPr>
          <p:cNvSpPr>
            <a:spLocks noGrp="1"/>
          </p:cNvSpPr>
          <p:nvPr/>
        </p:nvSpPr>
        <p:spPr>
          <a:xfrm>
            <a:off x="1325880" y="3977640"/>
            <a:ext cx="9921240" cy="658368"/>
          </a:xfrm>
          <a:prstGeom prst="rect">
            <a:avLst/>
          </a:prstGeom>
          <a:solidFill>
            <a:srgbClr val="FFF8EB"/>
          </a:solidFill>
          <a:ln>
            <a:solidFill>
              <a:srgbClr val="FFF8E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B1D24"/>
                </a:solidFill>
              </a:rPr>
              <a:t>Criar o Painel de Ideias e Projetos com quatro prompts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9116F06-4CE1-484E-A093-B2E5EE717192}"/>
              </a:ext>
            </a:extLst>
          </p:cNvPr>
          <p:cNvSpPr>
            <a:spLocks noGrp="1"/>
          </p:cNvSpPr>
          <p:nvPr/>
        </p:nvSpPr>
        <p:spPr>
          <a:xfrm>
            <a:off x="3886200" y="5257800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2F8F9D"/>
                </a:solidFill>
              </a:rPr>
              <a:t>Do ambiente ao projeto final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32B934F-6D08-44AF-8966-1F26B0DE3387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6D7A80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1497066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AAFB84-CE8F-4C3F-8439-B3D9E58DB47C}"/>
              </a:ext>
            </a:extLst>
          </p:cNvPr>
          <p:cNvSpPr>
            <a:spLocks noGrp="1"/>
          </p:cNvSpPr>
          <p:nvPr/>
        </p:nvSpPr>
        <p:spPr>
          <a:xfrm>
            <a:off x="685800" y="38404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E6AC22"/>
                </a:solidFill>
                <a:latin typeface="Aptos"/>
                <a:ea typeface="Aptos"/>
                <a:cs typeface="Aptos"/>
              </a:rPr>
              <a:t>CURSO PRÁTICO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72ECEF-D34E-413C-BA91-C09A9122E470}"/>
              </a:ext>
            </a:extLst>
          </p:cNvPr>
          <p:cNvSpPr>
            <a:spLocks noGrp="1"/>
          </p:cNvSpPr>
          <p:nvPr/>
        </p:nvSpPr>
        <p:spPr>
          <a:xfrm>
            <a:off x="685800" y="65836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B1D24"/>
                </a:solidFill>
                <a:latin typeface="Aptos Display"/>
                <a:ea typeface="Aptos Display"/>
                <a:cs typeface="Aptos Display"/>
              </a:rPr>
              <a:t>A arquitetura em uma imagem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A567A9-3A27-48E4-90C0-8E79D8EA408D}"/>
              </a:ext>
            </a:extLst>
          </p:cNvPr>
          <p:cNvSpPr>
            <a:spLocks noGrp="1"/>
          </p:cNvSpPr>
          <p:nvPr/>
        </p:nvSpPr>
        <p:spPr>
          <a:xfrm>
            <a:off x="713232" y="1243584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6D7A80"/>
                </a:solidFill>
                <a:latin typeface="Aptos"/>
                <a:ea typeface="Aptos"/>
                <a:cs typeface="Aptos"/>
              </a:rPr>
              <a:t>Quem roda onde, sem complicar.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8F30379-EE0B-4A7C-B404-CF3A115B09B7}"/>
              </a:ext>
            </a:extLst>
          </p:cNvPr>
          <p:cNvSpPr>
            <a:spLocks noGrp="1"/>
          </p:cNvSpPr>
          <p:nvPr/>
        </p:nvSpPr>
        <p:spPr>
          <a:xfrm>
            <a:off x="2788920" y="3246120"/>
            <a:ext cx="1280160" cy="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ADE6B53-F8F7-4B53-A957-B9B686A373D3}"/>
              </a:ext>
            </a:extLst>
          </p:cNvPr>
          <p:cNvSpPr>
            <a:spLocks noGrp="1"/>
          </p:cNvSpPr>
          <p:nvPr/>
        </p:nvSpPr>
        <p:spPr>
          <a:xfrm>
            <a:off x="5577840" y="3246120"/>
            <a:ext cx="1051560" cy="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3DFD61-7F5B-4F38-B49C-A58E6428CB0C}"/>
              </a:ext>
            </a:extLst>
          </p:cNvPr>
          <p:cNvSpPr>
            <a:spLocks noGrp="1"/>
          </p:cNvSpPr>
          <p:nvPr/>
        </p:nvSpPr>
        <p:spPr>
          <a:xfrm>
            <a:off x="7955280" y="3246120"/>
            <a:ext cx="1234440" cy="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F90FD9-991D-42BD-874D-7CDBD44055BA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2011680" cy="1234440"/>
          </a:xfrm>
          <a:prstGeom prst="rect">
            <a:avLst/>
          </a:prstGeom>
          <a:solidFill>
            <a:srgbClr val="FFF8EB"/>
          </a:solidFill>
          <a:ln w="15240">
            <a:solidFill>
              <a:srgbClr val="E6AC22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Windows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Sistema principal: navegador e aplicativo Ollama.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6B0F02F-6343-43E1-B31B-280C7E5A921F}"/>
              </a:ext>
            </a:extLst>
          </p:cNvPr>
          <p:cNvSpPr>
            <a:spLocks noGrp="1"/>
          </p:cNvSpPr>
          <p:nvPr/>
        </p:nvSpPr>
        <p:spPr>
          <a:xfrm>
            <a:off x="3886200" y="2606040"/>
            <a:ext cx="1874520" cy="1234440"/>
          </a:xfrm>
          <a:prstGeom prst="rect">
            <a:avLst/>
          </a:prstGeom>
          <a:solidFill>
            <a:srgbClr val="EAF5F6"/>
          </a:solidFill>
          <a:ln w="15240">
            <a:solidFill>
              <a:srgbClr val="2F8F9D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Ubuntu / WSL2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Ambiente Linux onde o Hermes será instalado.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AE45F7A-F833-4479-989D-64156509FA9D}"/>
              </a:ext>
            </a:extLst>
          </p:cNvPr>
          <p:cNvSpPr>
            <a:spLocks noGrp="1"/>
          </p:cNvSpPr>
          <p:nvPr/>
        </p:nvSpPr>
        <p:spPr>
          <a:xfrm>
            <a:off x="6446520" y="2606040"/>
            <a:ext cx="1874520" cy="1234440"/>
          </a:xfrm>
          <a:prstGeom prst="rect">
            <a:avLst/>
          </a:prstGeom>
          <a:solidFill>
            <a:srgbClr val="EAF5F6"/>
          </a:solidFill>
          <a:ln w="15240">
            <a:solidFill>
              <a:srgbClr val="2F8F9D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Hermes Agent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Agente que conversa, usa ferramentas e cria o projeto.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DCED3B-77B8-4B0F-B93E-6C87C672787D}"/>
              </a:ext>
            </a:extLst>
          </p:cNvPr>
          <p:cNvSpPr>
            <a:spLocks noGrp="1"/>
          </p:cNvSpPr>
          <p:nvPr/>
        </p:nvSpPr>
        <p:spPr>
          <a:xfrm>
            <a:off x="9372600" y="2606040"/>
            <a:ext cx="1874520" cy="1234440"/>
          </a:xfrm>
          <a:prstGeom prst="rect">
            <a:avLst/>
          </a:prstGeom>
          <a:solidFill>
            <a:srgbClr val="FFF8EB"/>
          </a:solidFill>
          <a:ln w="15240">
            <a:solidFill>
              <a:srgbClr val="E6AC22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Ollama Cloud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Modelo gemma4:cloud para a IA opcional.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7BA2711-E51D-4FCC-B389-1D47CFC08716}"/>
              </a:ext>
            </a:extLst>
          </p:cNvPr>
          <p:cNvSpPr>
            <a:spLocks noGrp="1"/>
          </p:cNvSpPr>
          <p:nvPr/>
        </p:nvSpPr>
        <p:spPr>
          <a:xfrm>
            <a:off x="1051560" y="4846320"/>
            <a:ext cx="9966960" cy="512064"/>
          </a:xfrm>
          <a:prstGeom prst="rect">
            <a:avLst/>
          </a:prstGeom>
          <a:noFill/>
        </p:spPr>
        <p:txBody>
          <a:bodyPr wrap="square" lIns="508" tIns="508" rIns="508" bIns="508" anchor="ctr"/>
          <a:lstStyle/>
          <a:p>
            <a:pPr marL="0" indent="0" algn="ctr">
              <a:buNone/>
            </a:pPr>
            <a:r>
              <a:rPr sz="1500">
                <a:solidFill>
                  <a:srgbClr val="0B1D24"/>
                </a:solidFill>
              </a:rPr>
              <a:t>No curso, o aluno usa o navegador para conversar com o Hermes. O Hermes roda no Ubuntu e acessa o Ollama pelo endpoint local.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EC38831-2572-498A-A0BC-DB8B854D604F}"/>
              </a:ext>
            </a:extLst>
          </p:cNvPr>
          <p:cNvSpPr>
            <a:spLocks noGrp="1"/>
          </p:cNvSpPr>
          <p:nvPr/>
        </p:nvSpPr>
        <p:spPr>
          <a:xfrm>
            <a:off x="4160520" y="5532120"/>
            <a:ext cx="3840480" cy="411480"/>
          </a:xfrm>
          <a:prstGeom prst="rect">
            <a:avLst/>
          </a:prstGeom>
          <a:solidFill>
            <a:srgbClr val="EAF5F6"/>
          </a:solidFill>
          <a:ln w="12700">
            <a:solidFill>
              <a:srgbClr val="C8E2E5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http://localhost:11434/v1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58FC4FB-720A-4709-B5EF-50E5D910E6D0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6D7A80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190922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594360"/>
            <a:ext cx="1600200" cy="16002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B8E939A-A6BE-47F1-9C3F-374BF07C41E9}"/>
              </a:ext>
            </a:extLst>
          </p:cNvPr>
          <p:cNvSpPr>
            <a:spLocks noGrp="1"/>
          </p:cNvSpPr>
          <p:nvPr/>
        </p:nvSpPr>
        <p:spPr>
          <a:xfrm>
            <a:off x="914400" y="2761488"/>
            <a:ext cx="103327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Aula 1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D1996AF-C536-491D-A88F-CC70478CC38F}"/>
              </a:ext>
            </a:extLst>
          </p:cNvPr>
          <p:cNvSpPr>
            <a:spLocks noGrp="1"/>
          </p:cNvSpPr>
          <p:nvPr/>
        </p:nvSpPr>
        <p:spPr>
          <a:xfrm>
            <a:off x="1554480" y="35204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>
                <a:solidFill>
                  <a:srgbClr val="D8D8D4"/>
                </a:solidFill>
              </a:rPr>
              <a:t>Instalar WSL2, Ubuntu, Ollama e Hermes até o primeiro prompt.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899C032-50B7-42B5-863E-D91F9C8C5990}"/>
              </a:ext>
            </a:extLst>
          </p:cNvPr>
          <p:cNvSpPr>
            <a:spLocks noGrp="1"/>
          </p:cNvSpPr>
          <p:nvPr/>
        </p:nvSpPr>
        <p:spPr>
          <a:xfrm>
            <a:off x="4709160" y="4187952"/>
            <a:ext cx="2788920" cy="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D9B37C6-22C5-41A4-850A-E3A4DA4CAD11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B9C4C7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189022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4FA0D5-55D0-47EB-A761-1C931B1834DB}"/>
              </a:ext>
            </a:extLst>
          </p:cNvPr>
          <p:cNvSpPr>
            <a:spLocks noGrp="1"/>
          </p:cNvSpPr>
          <p:nvPr/>
        </p:nvSpPr>
        <p:spPr>
          <a:xfrm>
            <a:off x="685800" y="38404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E6AC22"/>
                </a:solidFill>
                <a:latin typeface="Aptos"/>
                <a:ea typeface="Aptos"/>
                <a:cs typeface="Aptos"/>
              </a:rPr>
              <a:t>CURSO PRÁTICO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D557ED-3D71-469E-B0EF-7287EEFD81BC}"/>
              </a:ext>
            </a:extLst>
          </p:cNvPr>
          <p:cNvSpPr>
            <a:spLocks noGrp="1"/>
          </p:cNvSpPr>
          <p:nvPr/>
        </p:nvSpPr>
        <p:spPr>
          <a:xfrm>
            <a:off x="685800" y="65836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B1D24"/>
                </a:solidFill>
                <a:latin typeface="Aptos Display"/>
                <a:ea typeface="Aptos Display"/>
                <a:cs typeface="Aptos Display"/>
              </a:rPr>
              <a:t>Aula 1: sequência de gravação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440735-F2F0-42D4-ADC8-3860CA23811F}"/>
              </a:ext>
            </a:extLst>
          </p:cNvPr>
          <p:cNvSpPr>
            <a:spLocks noGrp="1"/>
          </p:cNvSpPr>
          <p:nvPr/>
        </p:nvSpPr>
        <p:spPr>
          <a:xfrm>
            <a:off x="713232" y="1243584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6D7A80"/>
                </a:solidFill>
                <a:latin typeface="Aptos"/>
                <a:ea typeface="Aptos"/>
                <a:cs typeface="Aptos"/>
              </a:rPr>
              <a:t>Copiar um bloco por vez, conferir o resultado e só então avançar.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32BE5D-2543-4C89-BF4A-3407890DD05B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3337560" cy="1325880"/>
          </a:xfrm>
          <a:prstGeom prst="rect">
            <a:avLst/>
          </a:prstGeom>
          <a:solidFill>
            <a:srgbClr val="EAF5F6"/>
          </a:solidFill>
          <a:ln w="12700">
            <a:solidFill>
              <a:srgbClr val="C8E2E5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lvl="1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PowerShell</a:t>
            </a:r>
          </a:p>
          <a:p>
            <a:pPr lvl="1">
              <a:buNone/>
            </a:pPr>
            <a:endParaRPr sz="1020">
              <a:solidFill>
                <a:srgbClr val="0B1D24"/>
              </a:solidFill>
              <a:latin typeface="Cascadia Mono"/>
              <a:ea typeface="Cascadia Mono"/>
              <a:cs typeface="Cascadia Mono"/>
            </a:endParaRPr>
          </a:p>
          <a:p>
            <a:pPr lvl="1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wsl --status</a:t>
            </a:r>
          </a:p>
          <a:p>
            <a:pPr lvl="1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wsl --list --verbose</a:t>
            </a:r>
          </a:p>
          <a:p>
            <a:pPr lvl="1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wsl --install -d Ubuntu-24.04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CA1FB86-C40F-4B07-BE29-363B5FE58C31}"/>
              </a:ext>
            </a:extLst>
          </p:cNvPr>
          <p:cNvSpPr>
            <a:spLocks noGrp="1"/>
          </p:cNvSpPr>
          <p:nvPr/>
        </p:nvSpPr>
        <p:spPr>
          <a:xfrm>
            <a:off x="4274820" y="1828800"/>
            <a:ext cx="3337560" cy="1325880"/>
          </a:xfrm>
          <a:prstGeom prst="rect">
            <a:avLst/>
          </a:prstGeom>
          <a:solidFill>
            <a:srgbClr val="EAF5F6"/>
          </a:solidFill>
          <a:ln w="12700">
            <a:solidFill>
              <a:srgbClr val="C8E2E5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PowerShell</a:t>
            </a:r>
          </a:p>
          <a:p>
            <a:pPr lvl="1" indent="0">
              <a:buNone/>
            </a:pPr>
            <a:endParaRPr sz="1020">
              <a:solidFill>
                <a:srgbClr val="0B1D24"/>
              </a:solidFill>
              <a:latin typeface="Cascadia Mono"/>
              <a:ea typeface="Cascadia Mono"/>
              <a:cs typeface="Cascadia Mono"/>
            </a:endParaRP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ollama --version</a:t>
            </a: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ollama signin</a:t>
            </a: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ollama pull gemma4:cloud</a:t>
            </a: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ollama list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57FCC8-5D21-4316-9802-F75C3BE2412F}"/>
              </a:ext>
            </a:extLst>
          </p:cNvPr>
          <p:cNvSpPr>
            <a:spLocks noGrp="1"/>
          </p:cNvSpPr>
          <p:nvPr/>
        </p:nvSpPr>
        <p:spPr>
          <a:xfrm>
            <a:off x="7694762" y="1828800"/>
            <a:ext cx="3735238" cy="1325880"/>
          </a:xfrm>
          <a:prstGeom prst="rect">
            <a:avLst/>
          </a:prstGeom>
          <a:solidFill>
            <a:srgbClr val="EAF5F6"/>
          </a:solidFill>
          <a:ln w="12700">
            <a:solidFill>
              <a:srgbClr val="C8E2E5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Ubuntu</a:t>
            </a:r>
          </a:p>
          <a:p>
            <a:pPr lvl="1" indent="0">
              <a:buNone/>
            </a:pPr>
            <a:endParaRPr sz="1020">
              <a:solidFill>
                <a:srgbClr val="0B1D24"/>
              </a:solidFill>
              <a:latin typeface="Cascadia Mono"/>
              <a:ea typeface="Cascadia Mono"/>
              <a:cs typeface="Cascadia Mono"/>
            </a:endParaRP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mkdir -p ~/hermes-lab</a:t>
            </a: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cd ~/hermes-lab</a:t>
            </a: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curl http://localhost:11434/api/version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F89B1D-E3E3-4BF1-BD00-3C5B6F53776E}"/>
              </a:ext>
            </a:extLst>
          </p:cNvPr>
          <p:cNvSpPr>
            <a:spLocks noGrp="1"/>
          </p:cNvSpPr>
          <p:nvPr/>
        </p:nvSpPr>
        <p:spPr>
          <a:xfrm>
            <a:off x="777240" y="3703320"/>
            <a:ext cx="5166360" cy="1554480"/>
          </a:xfrm>
          <a:prstGeom prst="rect">
            <a:avLst/>
          </a:prstGeom>
          <a:solidFill>
            <a:srgbClr val="EAF5F6"/>
          </a:solidFill>
          <a:ln w="12700">
            <a:solidFill>
              <a:srgbClr val="C8E2E5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Ubuntu</a:t>
            </a:r>
          </a:p>
          <a:p>
            <a:pPr lvl="1" indent="0">
              <a:buNone/>
            </a:pPr>
            <a:endParaRPr sz="1020">
              <a:solidFill>
                <a:srgbClr val="0B1D24"/>
              </a:solidFill>
              <a:latin typeface="Cascadia Mono"/>
              <a:ea typeface="Cascadia Mono"/>
              <a:cs typeface="Cascadia Mono"/>
            </a:endParaRP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curl -fsSL https://hermes-agent.nousresearch.com/install.sh | bash</a:t>
            </a: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source ~/.bashrc</a:t>
            </a:r>
            <a:br/>
            <a:endParaRPr/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hermes setup</a:t>
            </a:r>
          </a:p>
          <a:p>
            <a:pPr lvl="1" indent="0">
              <a:buNone/>
            </a:pPr>
            <a:r>
              <a:rPr sz="10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hermes doctor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B02021-E870-4D70-AFA5-E3905D545BC5}"/>
              </a:ext>
            </a:extLst>
          </p:cNvPr>
          <p:cNvSpPr>
            <a:spLocks noGrp="1"/>
          </p:cNvSpPr>
          <p:nvPr/>
        </p:nvSpPr>
        <p:spPr>
          <a:xfrm>
            <a:off x="6263640" y="3703320"/>
            <a:ext cx="5166360" cy="1554480"/>
          </a:xfrm>
          <a:prstGeom prst="rect">
            <a:avLst/>
          </a:prstGeom>
          <a:solidFill>
            <a:srgbClr val="EAF5F6"/>
          </a:solidFill>
          <a:ln w="12700">
            <a:solidFill>
              <a:srgbClr val="C8E2E5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lvl="1" indent="0">
              <a:buNone/>
            </a:pP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Dashboard</a:t>
            </a:r>
          </a:p>
          <a:p>
            <a:pPr lvl="1" indent="0">
              <a:buNone/>
            </a:pPr>
            <a:endParaRPr sz="1020" dirty="0">
              <a:solidFill>
                <a:srgbClr val="0B1D24"/>
              </a:solidFill>
              <a:latin typeface="Cascadia Mono"/>
              <a:ea typeface="Cascadia Mono"/>
              <a:cs typeface="Cascadia Mono"/>
            </a:endParaRPr>
          </a:p>
          <a:p>
            <a:pPr lvl="1" indent="0">
              <a:buNone/>
            </a:pPr>
            <a:r>
              <a:rPr sz="1020" dirty="0" err="1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hermes</a:t>
            </a: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 dashboard</a:t>
            </a:r>
          </a:p>
          <a:p>
            <a:pPr lvl="1" indent="0">
              <a:buNone/>
            </a:pP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http://127.0.0.1:9119</a:t>
            </a:r>
          </a:p>
          <a:p>
            <a:pPr lvl="1" indent="0">
              <a:buNone/>
            </a:pPr>
            <a:endParaRPr sz="1020" dirty="0">
              <a:solidFill>
                <a:srgbClr val="0B1D24"/>
              </a:solidFill>
              <a:latin typeface="Cascadia Mono"/>
              <a:ea typeface="Cascadia Mono"/>
              <a:cs typeface="Cascadia Mono"/>
            </a:endParaRPr>
          </a:p>
          <a:p>
            <a:pPr lvl="1" indent="0">
              <a:buNone/>
            </a:pP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Primeiro prompt:</a:t>
            </a:r>
          </a:p>
          <a:p>
            <a:pPr lvl="1" indent="0">
              <a:buNone/>
            </a:pPr>
            <a:r>
              <a:rPr sz="1020" dirty="0" err="1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Explique</a:t>
            </a: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020" dirty="0" err="1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em</a:t>
            </a: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020" dirty="0" err="1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linguagem</a:t>
            </a: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 simples </a:t>
            </a:r>
            <a:r>
              <a:rPr sz="1020" dirty="0" err="1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onde</a:t>
            </a: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020" dirty="0" err="1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você</a:t>
            </a: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020" dirty="0" err="1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está</a:t>
            </a: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020" dirty="0" err="1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executando</a:t>
            </a:r>
            <a:r>
              <a:rPr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819360-1136-400F-9993-60CD42B25656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6D7A80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B5A37E0-BDF7-6F31-B21C-E75D2F31EB8A}"/>
              </a:ext>
            </a:extLst>
          </p:cNvPr>
          <p:cNvSpPr>
            <a:spLocks noGrp="1"/>
          </p:cNvSpPr>
          <p:nvPr/>
        </p:nvSpPr>
        <p:spPr>
          <a:xfrm>
            <a:off x="777240" y="5335524"/>
            <a:ext cx="5166360" cy="941832"/>
          </a:xfrm>
          <a:prstGeom prst="rect">
            <a:avLst/>
          </a:prstGeom>
          <a:solidFill>
            <a:srgbClr val="EAF5F6"/>
          </a:solidFill>
          <a:ln w="12700">
            <a:solidFill>
              <a:srgbClr val="C8E2E5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lvl="1" indent="0">
              <a:buNone/>
            </a:pPr>
            <a:r>
              <a:rPr lang="pt-BR" sz="1020" dirty="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Hermes Desktop</a:t>
            </a:r>
            <a:endParaRPr sz="1020" dirty="0">
              <a:solidFill>
                <a:srgbClr val="0B1D24"/>
              </a:solidFill>
              <a:latin typeface="Cascadia Mono"/>
              <a:ea typeface="Cascadia Mono"/>
              <a:cs typeface="Cascadia Mono"/>
            </a:endParaRPr>
          </a:p>
          <a:p>
            <a:pPr lvl="1" indent="0">
              <a:buNone/>
            </a:pPr>
            <a:endParaRPr sz="1020" dirty="0">
              <a:solidFill>
                <a:srgbClr val="0B1D24"/>
              </a:solidFill>
              <a:latin typeface="Cascadia Mono"/>
              <a:ea typeface="Cascadia Mono"/>
              <a:cs typeface="Cascadia Mono"/>
            </a:endParaRPr>
          </a:p>
        </p:txBody>
      </p:sp>
    </p:spTree>
    <p:extLst>
      <p:ext uri="{BB962C8B-B14F-4D97-AF65-F5344CB8AC3E}">
        <p14:creationId xmlns:p14="http://schemas.microsoft.com/office/powerpoint/2010/main" val="214514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914400"/>
            <a:ext cx="2834640" cy="28346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357AA8B-4D82-41FE-8966-936C2CDE305C}"/>
              </a:ext>
            </a:extLst>
          </p:cNvPr>
          <p:cNvSpPr>
            <a:spLocks noGrp="1"/>
          </p:cNvSpPr>
          <p:nvPr/>
        </p:nvSpPr>
        <p:spPr>
          <a:xfrm>
            <a:off x="3977640" y="914400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primeiro prompt é uma vitória pequena, mas importante.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C20DE88-5621-4F29-AF92-E70D81E84392}"/>
              </a:ext>
            </a:extLst>
          </p:cNvPr>
          <p:cNvSpPr>
            <a:spLocks noGrp="1"/>
          </p:cNvSpPr>
          <p:nvPr/>
        </p:nvSpPr>
        <p:spPr>
          <a:xfrm>
            <a:off x="4023360" y="2057400"/>
            <a:ext cx="6812280" cy="1234440"/>
          </a:xfrm>
          <a:prstGeom prst="rect">
            <a:avLst/>
          </a:prstGeom>
          <a:solidFill>
            <a:srgbClr val="EAF5F6"/>
          </a:solidFill>
          <a:ln w="12700">
            <a:solidFill>
              <a:srgbClr val="C8E2E5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22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Explique em linguagem simples onde você está executando, qual modelo está configurado e quais tipos de tarefa pode realizar. Não altere arquivos e não execute comandos.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7B86E57-5F63-4A94-8DEC-DD72729CEF95}"/>
              </a:ext>
            </a:extLst>
          </p:cNvPr>
          <p:cNvSpPr>
            <a:spLocks noGrp="1"/>
          </p:cNvSpPr>
          <p:nvPr/>
        </p:nvSpPr>
        <p:spPr>
          <a:xfrm>
            <a:off x="4041648" y="37033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E6AC22"/>
                </a:solidFill>
              </a:rPr>
              <a:t>O aluno deve observar: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79591A5-5ACC-41FE-9E59-F4C042F2C0FC}"/>
              </a:ext>
            </a:extLst>
          </p:cNvPr>
          <p:cNvSpPr>
            <a:spLocks noGrp="1"/>
          </p:cNvSpPr>
          <p:nvPr/>
        </p:nvSpPr>
        <p:spPr>
          <a:xfrm>
            <a:off x="4069080" y="4096512"/>
            <a:ext cx="5760720" cy="10972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420">
                <a:solidFill>
                  <a:srgbClr val="E8E8E3"/>
                </a:solidFill>
              </a:rPr>
              <a:t>• Hermes respondeu no navegador</a:t>
            </a:r>
          </a:p>
          <a:p>
            <a:pPr marL="0" indent="0">
              <a:buNone/>
            </a:pPr>
            <a:r>
              <a:rPr sz="1420">
                <a:solidFill>
                  <a:srgbClr val="E8E8E3"/>
                </a:solidFill>
              </a:rPr>
              <a:t>• Modelo configurado foi reconhecido</a:t>
            </a:r>
          </a:p>
          <a:p>
            <a:pPr marL="0" indent="0">
              <a:buNone/>
            </a:pPr>
            <a:r>
              <a:rPr sz="1420">
                <a:solidFill>
                  <a:srgbClr val="E8E8E3"/>
                </a:solidFill>
              </a:rPr>
              <a:t>• Nenhuma ferramenta precisou ser aprovada</a:t>
            </a:r>
          </a:p>
          <a:p>
            <a:pPr marL="0" indent="0">
              <a:buNone/>
            </a:pPr>
            <a:r>
              <a:rPr sz="1420">
                <a:solidFill>
                  <a:srgbClr val="E8E8E3"/>
                </a:solidFill>
              </a:rPr>
              <a:t>• Nenhum arquivo foi alterado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19DAD05-3469-474D-8839-E4A7485F52AD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B9C4C7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165441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CA2227-057A-4462-926D-D5D0FA4FC59A}"/>
              </a:ext>
            </a:extLst>
          </p:cNvPr>
          <p:cNvSpPr>
            <a:spLocks noGrp="1"/>
          </p:cNvSpPr>
          <p:nvPr/>
        </p:nvSpPr>
        <p:spPr>
          <a:xfrm>
            <a:off x="685800" y="38404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E6AC22"/>
                </a:solidFill>
                <a:latin typeface="Aptos"/>
                <a:ea typeface="Aptos"/>
                <a:cs typeface="Aptos"/>
              </a:rPr>
              <a:t>CURSO PRÁTICO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FD6D9C-37AE-4815-BCA8-81518EE992B2}"/>
              </a:ext>
            </a:extLst>
          </p:cNvPr>
          <p:cNvSpPr>
            <a:spLocks noGrp="1"/>
          </p:cNvSpPr>
          <p:nvPr/>
        </p:nvSpPr>
        <p:spPr>
          <a:xfrm>
            <a:off x="685800" y="65836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B1D24"/>
                </a:solidFill>
                <a:latin typeface="Aptos Display"/>
                <a:ea typeface="Aptos Display"/>
                <a:cs typeface="Aptos Display"/>
              </a:rPr>
              <a:t>Aula 2: Hermes por dentro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0BEF0D-F0EB-48B5-9844-0FE4B30D6358}"/>
              </a:ext>
            </a:extLst>
          </p:cNvPr>
          <p:cNvSpPr>
            <a:spLocks noGrp="1"/>
          </p:cNvSpPr>
          <p:nvPr/>
        </p:nvSpPr>
        <p:spPr>
          <a:xfrm>
            <a:off x="713232" y="1243584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6D7A80"/>
                </a:solidFill>
                <a:latin typeface="Aptos"/>
                <a:ea typeface="Aptos"/>
                <a:cs typeface="Aptos"/>
              </a:rPr>
              <a:t>A proposta é passear pela interface antes de pedir trabalho pesado ao agente.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4A282C-7E48-44D2-BF67-A089599C625C}"/>
              </a:ext>
            </a:extLst>
          </p:cNvPr>
          <p:cNvSpPr>
            <a:spLocks noGrp="1"/>
          </p:cNvSpPr>
          <p:nvPr/>
        </p:nvSpPr>
        <p:spPr>
          <a:xfrm>
            <a:off x="777240" y="1874520"/>
            <a:ext cx="2743200" cy="1143000"/>
          </a:xfrm>
          <a:prstGeom prst="rect">
            <a:avLst/>
          </a:prstGeom>
          <a:solidFill>
            <a:srgbClr val="FFF8EB"/>
          </a:solidFill>
          <a:ln w="15240">
            <a:solidFill>
              <a:srgbClr val="E6AC22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Status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versão, gateway e sessões recentes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407A8C-CCF6-433D-A674-632E5CAA0D5B}"/>
              </a:ext>
            </a:extLst>
          </p:cNvPr>
          <p:cNvSpPr>
            <a:spLocks noGrp="1"/>
          </p:cNvSpPr>
          <p:nvPr/>
        </p:nvSpPr>
        <p:spPr>
          <a:xfrm>
            <a:off x="4251960" y="1874520"/>
            <a:ext cx="2743200" cy="1143000"/>
          </a:xfrm>
          <a:prstGeom prst="rect">
            <a:avLst/>
          </a:prstGeom>
          <a:solidFill>
            <a:srgbClr val="EAF5F6"/>
          </a:solidFill>
          <a:ln w="15240">
            <a:solidFill>
              <a:srgbClr val="2F8F9D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Chat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conversa, aprovações e comandos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C96CBA-A1A9-4E8C-BD2F-82EFFB38B663}"/>
              </a:ext>
            </a:extLst>
          </p:cNvPr>
          <p:cNvSpPr>
            <a:spLocks noGrp="1"/>
          </p:cNvSpPr>
          <p:nvPr/>
        </p:nvSpPr>
        <p:spPr>
          <a:xfrm>
            <a:off x="7726680" y="1874520"/>
            <a:ext cx="2743200" cy="1143000"/>
          </a:xfrm>
          <a:prstGeom prst="rect">
            <a:avLst/>
          </a:prstGeom>
          <a:solidFill>
            <a:srgbClr val="FFF8EB"/>
          </a:solidFill>
          <a:ln w="15240">
            <a:solidFill>
              <a:srgbClr val="E6AC22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Sessions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retomar e revisar histórico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E09A244-2E9E-4544-BE78-BDBB03685767}"/>
              </a:ext>
            </a:extLst>
          </p:cNvPr>
          <p:cNvSpPr>
            <a:spLocks noGrp="1"/>
          </p:cNvSpPr>
          <p:nvPr/>
        </p:nvSpPr>
        <p:spPr>
          <a:xfrm>
            <a:off x="777240" y="3657600"/>
            <a:ext cx="2743200" cy="1143000"/>
          </a:xfrm>
          <a:prstGeom prst="rect">
            <a:avLst/>
          </a:prstGeom>
          <a:solidFill>
            <a:srgbClr val="EAF5F6"/>
          </a:solidFill>
          <a:ln w="15240">
            <a:solidFill>
              <a:srgbClr val="2F8F9D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Config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modelo, endpoint, aprovações e preferências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2A0BCE-59C0-49F4-A8BE-5C197FC3947D}"/>
              </a:ext>
            </a:extLst>
          </p:cNvPr>
          <p:cNvSpPr>
            <a:spLocks noGrp="1"/>
          </p:cNvSpPr>
          <p:nvPr/>
        </p:nvSpPr>
        <p:spPr>
          <a:xfrm>
            <a:off x="4251960" y="3657600"/>
            <a:ext cx="2743200" cy="1143000"/>
          </a:xfrm>
          <a:prstGeom prst="rect">
            <a:avLst/>
          </a:prstGeom>
          <a:solidFill>
            <a:srgbClr val="FFF8EB"/>
          </a:solidFill>
          <a:ln w="15240">
            <a:solidFill>
              <a:srgbClr val="E6AC22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Skills / Toolsets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capacidades disponíveis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9FF0CA9-3944-445C-9216-631B0A917F36}"/>
              </a:ext>
            </a:extLst>
          </p:cNvPr>
          <p:cNvSpPr>
            <a:spLocks noGrp="1"/>
          </p:cNvSpPr>
          <p:nvPr/>
        </p:nvSpPr>
        <p:spPr>
          <a:xfrm>
            <a:off x="7726680" y="3657600"/>
            <a:ext cx="2743200" cy="1143000"/>
          </a:xfrm>
          <a:prstGeom prst="rect">
            <a:avLst/>
          </a:prstGeom>
          <a:solidFill>
            <a:srgbClr val="EAF5F6"/>
          </a:solidFill>
          <a:ln w="15240">
            <a:solidFill>
              <a:srgbClr val="2F8F9D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Logs / Analytics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diagnóstico e uso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ADD913-6ADB-4CB0-A8FF-A8F39BA0785C}"/>
              </a:ext>
            </a:extLst>
          </p:cNvPr>
          <p:cNvSpPr>
            <a:spLocks noGrp="1"/>
          </p:cNvSpPr>
          <p:nvPr/>
        </p:nvSpPr>
        <p:spPr>
          <a:xfrm>
            <a:off x="1325880" y="5303520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F8F9D"/>
                </a:solidFill>
              </a:rPr>
              <a:t>Aula 2 não é para configurar tudo. É para saber onde olhar quando precisar.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46F60D0-0248-41C6-8322-FD8343DFDB20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6D7A80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1776856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CB0225-C345-4FF3-960D-0B1D8D0686D5}"/>
              </a:ext>
            </a:extLst>
          </p:cNvPr>
          <p:cNvSpPr>
            <a:spLocks noGrp="1"/>
          </p:cNvSpPr>
          <p:nvPr/>
        </p:nvSpPr>
        <p:spPr>
          <a:xfrm>
            <a:off x="685800" y="38404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E6AC22"/>
                </a:solidFill>
                <a:latin typeface="Aptos"/>
                <a:ea typeface="Aptos"/>
                <a:cs typeface="Aptos"/>
              </a:rPr>
              <a:t>CURSO PRÁTICO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F5A88A-C14D-457C-BDDC-395BC9DB130F}"/>
              </a:ext>
            </a:extLst>
          </p:cNvPr>
          <p:cNvSpPr>
            <a:spLocks noGrp="1"/>
          </p:cNvSpPr>
          <p:nvPr/>
        </p:nvSpPr>
        <p:spPr>
          <a:xfrm>
            <a:off x="685800" y="65836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B1D24"/>
                </a:solidFill>
                <a:latin typeface="Aptos Display"/>
                <a:ea typeface="Aptos Display"/>
                <a:cs typeface="Aptos Display"/>
              </a:rPr>
              <a:t>Antes de aprovar, leia quatro coisas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D618B8-2561-43A7-999F-80B162947364}"/>
              </a:ext>
            </a:extLst>
          </p:cNvPr>
          <p:cNvSpPr>
            <a:spLocks noGrp="1"/>
          </p:cNvSpPr>
          <p:nvPr/>
        </p:nvSpPr>
        <p:spPr>
          <a:xfrm>
            <a:off x="713232" y="1243584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6D7A80"/>
                </a:solidFill>
                <a:latin typeface="Aptos"/>
                <a:ea typeface="Aptos"/>
                <a:cs typeface="Aptos"/>
              </a:rPr>
              <a:t>Essa é a regra simples que protege o aluno sem assustar.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C8FBB1-4073-475A-90C9-2CFB2BC839D4}"/>
              </a:ext>
            </a:extLst>
          </p:cNvPr>
          <p:cNvSpPr>
            <a:spLocks noGrp="1"/>
          </p:cNvSpPr>
          <p:nvPr/>
        </p:nvSpPr>
        <p:spPr>
          <a:xfrm>
            <a:off x="960120" y="1920240"/>
            <a:ext cx="411480" cy="566928"/>
          </a:xfrm>
          <a:prstGeom prst="rect">
            <a:avLst/>
          </a:prstGeom>
          <a:solidFill>
            <a:srgbClr val="E6AC22"/>
          </a:solidFill>
          <a:ln>
            <a:solidFill>
              <a:srgbClr val="E6AC22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600" b="1">
                <a:solidFill>
                  <a:srgbClr val="0B1D24"/>
                </a:solidFill>
              </a:rPr>
              <a:t>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F4601A-2C78-4647-A014-665A084E7598}"/>
              </a:ext>
            </a:extLst>
          </p:cNvPr>
          <p:cNvSpPr>
            <a:spLocks noGrp="1"/>
          </p:cNvSpPr>
          <p:nvPr/>
        </p:nvSpPr>
        <p:spPr>
          <a:xfrm>
            <a:off x="1463040" y="1920240"/>
            <a:ext cx="9738360" cy="566928"/>
          </a:xfrm>
          <a:prstGeom prst="rect">
            <a:avLst/>
          </a:prstGeom>
          <a:solidFill>
            <a:srgbClr val="FFF8EB"/>
          </a:solidFill>
          <a:ln>
            <a:solidFill>
              <a:srgbClr val="FFF8E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B1D24"/>
                </a:solidFill>
              </a:rPr>
              <a:t>A ação: qual programa ou ferramenta será executado?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AC054C-6AFA-47CF-8757-12439D119775}"/>
              </a:ext>
            </a:extLst>
          </p:cNvPr>
          <p:cNvSpPr>
            <a:spLocks noGrp="1"/>
          </p:cNvSpPr>
          <p:nvPr/>
        </p:nvSpPr>
        <p:spPr>
          <a:xfrm>
            <a:off x="960120" y="2697480"/>
            <a:ext cx="411480" cy="566928"/>
          </a:xfrm>
          <a:prstGeom prst="rect">
            <a:avLst/>
          </a:prstGeom>
          <a:solidFill>
            <a:srgbClr val="E6AC22"/>
          </a:solidFill>
          <a:ln>
            <a:solidFill>
              <a:srgbClr val="E6AC22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600" b="1">
                <a:solidFill>
                  <a:srgbClr val="0B1D24"/>
                </a:solidFill>
              </a:rPr>
              <a:t>2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526E7CE-5B26-498B-9497-6397A2B609A1}"/>
              </a:ext>
            </a:extLst>
          </p:cNvPr>
          <p:cNvSpPr>
            <a:spLocks noGrp="1"/>
          </p:cNvSpPr>
          <p:nvPr/>
        </p:nvSpPr>
        <p:spPr>
          <a:xfrm>
            <a:off x="1463040" y="2697480"/>
            <a:ext cx="9738360" cy="566928"/>
          </a:xfrm>
          <a:prstGeom prst="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B1D24"/>
                </a:solidFill>
              </a:rPr>
              <a:t>O caminho: em qual pasta ou arquivo a ação acontecerá?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2C3F4F-AF85-4C59-A0DE-66E5B30B7BDA}"/>
              </a:ext>
            </a:extLst>
          </p:cNvPr>
          <p:cNvSpPr>
            <a:spLocks noGrp="1"/>
          </p:cNvSpPr>
          <p:nvPr/>
        </p:nvSpPr>
        <p:spPr>
          <a:xfrm>
            <a:off x="960120" y="3474720"/>
            <a:ext cx="411480" cy="566928"/>
          </a:xfrm>
          <a:prstGeom prst="rect">
            <a:avLst/>
          </a:prstGeom>
          <a:solidFill>
            <a:srgbClr val="E6AC22"/>
          </a:solidFill>
          <a:ln>
            <a:solidFill>
              <a:srgbClr val="E6AC22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600" b="1">
                <a:solidFill>
                  <a:srgbClr val="0B1D24"/>
                </a:solidFill>
              </a:rPr>
              <a:t>3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2340907-4966-4470-9E31-9B1116C27946}"/>
              </a:ext>
            </a:extLst>
          </p:cNvPr>
          <p:cNvSpPr>
            <a:spLocks noGrp="1"/>
          </p:cNvSpPr>
          <p:nvPr/>
        </p:nvSpPr>
        <p:spPr>
          <a:xfrm>
            <a:off x="1463040" y="3474720"/>
            <a:ext cx="9738360" cy="566928"/>
          </a:xfrm>
          <a:prstGeom prst="rect">
            <a:avLst/>
          </a:prstGeom>
          <a:solidFill>
            <a:srgbClr val="FFF8EB"/>
          </a:solidFill>
          <a:ln>
            <a:solidFill>
              <a:srgbClr val="FFF8E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B1D24"/>
                </a:solidFill>
              </a:rPr>
              <a:t>O efeito: a ação lê, cria, altera ou exclui algo?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B2FCDD-19E7-4575-B7E3-1E53B7F2373B}"/>
              </a:ext>
            </a:extLst>
          </p:cNvPr>
          <p:cNvSpPr>
            <a:spLocks noGrp="1"/>
          </p:cNvSpPr>
          <p:nvPr/>
        </p:nvSpPr>
        <p:spPr>
          <a:xfrm>
            <a:off x="960120" y="4251960"/>
            <a:ext cx="411480" cy="566928"/>
          </a:xfrm>
          <a:prstGeom prst="rect">
            <a:avLst/>
          </a:prstGeom>
          <a:solidFill>
            <a:srgbClr val="E6AC22"/>
          </a:solidFill>
          <a:ln>
            <a:solidFill>
              <a:srgbClr val="E6AC22"/>
            </a:solidFill>
          </a:ln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600" b="1">
                <a:solidFill>
                  <a:srgbClr val="0B1D24"/>
                </a:solidFill>
              </a:rPr>
              <a:t>4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8CEA2FC-5E07-40AC-98A6-A6BFBCE4F891}"/>
              </a:ext>
            </a:extLst>
          </p:cNvPr>
          <p:cNvSpPr>
            <a:spLocks noGrp="1"/>
          </p:cNvSpPr>
          <p:nvPr/>
        </p:nvSpPr>
        <p:spPr>
          <a:xfrm>
            <a:off x="1463040" y="4251960"/>
            <a:ext cx="9738360" cy="566928"/>
          </a:xfrm>
          <a:prstGeom prst="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B1D24"/>
                </a:solidFill>
              </a:rPr>
              <a:t>A reversibilidade: dá para desfazer com segurança?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2BAE08-1164-4DAE-904A-B2082C0FBA86}"/>
              </a:ext>
            </a:extLst>
          </p:cNvPr>
          <p:cNvSpPr>
            <a:spLocks noGrp="1"/>
          </p:cNvSpPr>
          <p:nvPr/>
        </p:nvSpPr>
        <p:spPr>
          <a:xfrm>
            <a:off x="1417320" y="53492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E6AC22"/>
                </a:solidFill>
              </a:rPr>
              <a:t>Frase coringa: “Explique este comando em linguagem simples antes de pedir aprovação.”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B314203-9DD7-49A6-9DDD-623E628F08D1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6D7A80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214216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594360"/>
            <a:ext cx="1600200" cy="16002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3B5441B-3EC3-4113-98CC-8AE223A96C63}"/>
              </a:ext>
            </a:extLst>
          </p:cNvPr>
          <p:cNvSpPr>
            <a:spLocks noGrp="1"/>
          </p:cNvSpPr>
          <p:nvPr/>
        </p:nvSpPr>
        <p:spPr>
          <a:xfrm>
            <a:off x="914400" y="2761488"/>
            <a:ext cx="103327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Aula 3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A261D37-B8B0-468D-A367-2395F2484987}"/>
              </a:ext>
            </a:extLst>
          </p:cNvPr>
          <p:cNvSpPr>
            <a:spLocks noGrp="1"/>
          </p:cNvSpPr>
          <p:nvPr/>
        </p:nvSpPr>
        <p:spPr>
          <a:xfrm>
            <a:off x="1554480" y="35204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>
                <a:solidFill>
                  <a:srgbClr val="D8D8D4"/>
                </a:solidFill>
              </a:rPr>
              <a:t>Construir o Painel de Ideias e Projetos conversando com o Hermes.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6BC526-4089-4DEB-9372-108134A7028D}"/>
              </a:ext>
            </a:extLst>
          </p:cNvPr>
          <p:cNvSpPr>
            <a:spLocks noGrp="1"/>
          </p:cNvSpPr>
          <p:nvPr/>
        </p:nvSpPr>
        <p:spPr>
          <a:xfrm>
            <a:off x="4709160" y="4187952"/>
            <a:ext cx="2788920" cy="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B87E4AE-8F70-4650-B387-F283DC417178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B9C4C7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1175702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21FBD2-1F56-4207-8112-AAE7B9B0256A}"/>
              </a:ext>
            </a:extLst>
          </p:cNvPr>
          <p:cNvSpPr>
            <a:spLocks noGrp="1"/>
          </p:cNvSpPr>
          <p:nvPr/>
        </p:nvSpPr>
        <p:spPr>
          <a:xfrm>
            <a:off x="685800" y="38404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E6AC22"/>
                </a:solidFill>
                <a:latin typeface="Aptos"/>
                <a:ea typeface="Aptos"/>
                <a:cs typeface="Aptos"/>
              </a:rPr>
              <a:t>CURSO PRÁTICO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AF2150-FD7D-4D2A-89E8-368C8DC47D33}"/>
              </a:ext>
            </a:extLst>
          </p:cNvPr>
          <p:cNvSpPr>
            <a:spLocks noGrp="1"/>
          </p:cNvSpPr>
          <p:nvPr/>
        </p:nvSpPr>
        <p:spPr>
          <a:xfrm>
            <a:off x="685800" y="65836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B1D24"/>
                </a:solidFill>
                <a:latin typeface="Aptos Display"/>
                <a:ea typeface="Aptos Display"/>
                <a:cs typeface="Aptos Display"/>
              </a:rPr>
              <a:t>Quatro prompts, um projeto completo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AD26D9-76AD-4A3F-A3D6-A2FF2DEB4031}"/>
              </a:ext>
            </a:extLst>
          </p:cNvPr>
          <p:cNvSpPr>
            <a:spLocks noGrp="1"/>
          </p:cNvSpPr>
          <p:nvPr/>
        </p:nvSpPr>
        <p:spPr>
          <a:xfrm>
            <a:off x="713232" y="1243584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6D7A80"/>
                </a:solidFill>
                <a:latin typeface="Aptos"/>
                <a:ea typeface="Aptos"/>
                <a:cs typeface="Aptos"/>
              </a:rPr>
              <a:t>Menos passos, mais clareza para quem está começando.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DF9640-53CB-4918-A16C-47EAA422FDEF}"/>
              </a:ext>
            </a:extLst>
          </p:cNvPr>
          <p:cNvSpPr>
            <a:spLocks noGrp="1"/>
          </p:cNvSpPr>
          <p:nvPr/>
        </p:nvSpPr>
        <p:spPr>
          <a:xfrm>
            <a:off x="713232" y="1874520"/>
            <a:ext cx="2651760" cy="1417320"/>
          </a:xfrm>
          <a:prstGeom prst="rect">
            <a:avLst/>
          </a:prstGeom>
          <a:solidFill>
            <a:srgbClr val="FFF8EB"/>
          </a:solidFill>
          <a:ln w="15240">
            <a:solidFill>
              <a:srgbClr val="E6AC22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Prompt 1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Preparar e planejar: diretório, versões, arquitetura e arquivos previstos.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1EA4E5-0A53-457D-83D5-5A6EA75CE12E}"/>
              </a:ext>
            </a:extLst>
          </p:cNvPr>
          <p:cNvSpPr>
            <a:spLocks noGrp="1"/>
          </p:cNvSpPr>
          <p:nvPr/>
        </p:nvSpPr>
        <p:spPr>
          <a:xfrm>
            <a:off x="3611880" y="1874520"/>
            <a:ext cx="2651760" cy="1417320"/>
          </a:xfrm>
          <a:prstGeom prst="rect">
            <a:avLst/>
          </a:prstGeom>
          <a:solidFill>
            <a:srgbClr val="EAF5F6"/>
          </a:solidFill>
          <a:ln w="15240">
            <a:solidFill>
              <a:srgbClr val="2F8F9D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Prompt 2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Criar a versão manual: projetos, tarefas, filtros, backup e servidor local.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B1BF73-17F9-426C-A462-923D1D13CE52}"/>
              </a:ext>
            </a:extLst>
          </p:cNvPr>
          <p:cNvSpPr>
            <a:spLocks noGrp="1"/>
          </p:cNvSpPr>
          <p:nvPr/>
        </p:nvSpPr>
        <p:spPr>
          <a:xfrm>
            <a:off x="6510528" y="1874520"/>
            <a:ext cx="2651760" cy="1417320"/>
          </a:xfrm>
          <a:prstGeom prst="rect">
            <a:avLst/>
          </a:prstGeom>
          <a:solidFill>
            <a:srgbClr val="FFF8EB"/>
          </a:solidFill>
          <a:ln w="15240">
            <a:solidFill>
              <a:srgbClr val="E6AC22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Prompt 3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Adicionar IA opcional: Ollama, gemma4:cloud, proposta editável e confirmação humana.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99DCC8D-C4BE-46B5-ABDC-8F9240A09918}"/>
              </a:ext>
            </a:extLst>
          </p:cNvPr>
          <p:cNvSpPr>
            <a:spLocks noGrp="1"/>
          </p:cNvSpPr>
          <p:nvPr/>
        </p:nvSpPr>
        <p:spPr>
          <a:xfrm>
            <a:off x="9409176" y="1874520"/>
            <a:ext cx="2103120" cy="1417320"/>
          </a:xfrm>
          <a:prstGeom prst="rect">
            <a:avLst/>
          </a:prstGeom>
          <a:solidFill>
            <a:srgbClr val="EAF5F6"/>
          </a:solidFill>
          <a:ln w="15240">
            <a:solidFill>
              <a:srgbClr val="2F8F9D"/>
            </a:solidFill>
          </a:ln>
          <a:effectLst>
            <a:outerShdw blurRad="12700" dist="50800" dir="2700000" algn="bl" rotWithShape="0">
              <a:srgbClr val="D5D0C4">
                <a:alpha val="16000"/>
              </a:srgbClr>
            </a:outerShdw>
          </a:effectLst>
        </p:spPr>
        <p:txBody>
          <a:bodyPr wrap="square" lIns="2032" tIns="2032" rIns="2032" bIns="2032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0B1D24"/>
                </a:solidFill>
                <a:latin typeface="Aptos"/>
                <a:ea typeface="Aptos"/>
                <a:cs typeface="Aptos"/>
              </a:rPr>
              <a:t>Prompt 4
</a:t>
            </a:r>
            <a:r>
              <a:rPr sz="1350">
                <a:solidFill>
                  <a:srgbClr val="0B1D24"/>
                </a:solidFill>
                <a:latin typeface="Aptos"/>
                <a:ea typeface="Aptos"/>
                <a:cs typeface="Aptos"/>
              </a:rPr>
              <a:t>Revisar, testar e finalizar: validação, acessibilidade básica, lint e teste real aprovado.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8B9CBF4-F242-476E-8039-237B320157D6}"/>
              </a:ext>
            </a:extLst>
          </p:cNvPr>
          <p:cNvSpPr>
            <a:spLocks noGrp="1"/>
          </p:cNvSpPr>
          <p:nvPr/>
        </p:nvSpPr>
        <p:spPr>
          <a:xfrm>
            <a:off x="3355848" y="2596896"/>
            <a:ext cx="228600" cy="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479A67-A799-49AE-8F5D-B5C1A5FEB3B9}"/>
              </a:ext>
            </a:extLst>
          </p:cNvPr>
          <p:cNvSpPr>
            <a:spLocks noGrp="1"/>
          </p:cNvSpPr>
          <p:nvPr/>
        </p:nvSpPr>
        <p:spPr>
          <a:xfrm>
            <a:off x="6245352" y="2596896"/>
            <a:ext cx="228600" cy="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2004C80-2DAA-4A0F-9481-8F2EF02695B6}"/>
              </a:ext>
            </a:extLst>
          </p:cNvPr>
          <p:cNvSpPr>
            <a:spLocks noGrp="1"/>
          </p:cNvSpPr>
          <p:nvPr/>
        </p:nvSpPr>
        <p:spPr>
          <a:xfrm>
            <a:off x="9144000" y="2596896"/>
            <a:ext cx="228600" cy="0"/>
          </a:xfrm>
          <a:prstGeom prst="line">
            <a:avLst/>
          </a:prstGeom>
          <a:noFill/>
          <a:ln w="25400">
            <a:solidFill>
              <a:srgbClr val="E6AC2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3938DE4-6C46-4AAC-8FD9-00A8926C6D17}"/>
              </a:ext>
            </a:extLst>
          </p:cNvPr>
          <p:cNvSpPr>
            <a:spLocks noGrp="1"/>
          </p:cNvSpPr>
          <p:nvPr/>
        </p:nvSpPr>
        <p:spPr>
          <a:xfrm>
            <a:off x="1874520" y="4251960"/>
            <a:ext cx="8458200" cy="841248"/>
          </a:xfrm>
          <a:prstGeom prst="rect">
            <a:avLst/>
          </a:prstGeom>
          <a:solidFill>
            <a:srgbClr val="EAF5F6"/>
          </a:solidFill>
          <a:ln w="12700">
            <a:solidFill>
              <a:srgbClr val="C8E2E5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cd ~/hermes-lab</a:t>
            </a:r>
          </a:p>
          <a:p>
            <a:pPr marL="0" indent="0">
              <a:buNone/>
            </a:pPr>
            <a:r>
              <a:rPr sz="115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hermes dashboard</a:t>
            </a:r>
          </a:p>
          <a:p>
            <a:pPr marL="0" indent="0">
              <a:buNone/>
            </a:pPr>
            <a:r>
              <a:rPr sz="1150">
                <a:solidFill>
                  <a:srgbClr val="0B1D24"/>
                </a:solidFill>
                <a:latin typeface="Cascadia Mono"/>
                <a:ea typeface="Cascadia Mono"/>
                <a:cs typeface="Cascadia Mono"/>
              </a:rPr>
              <a:t># abrir http://127.0.0.1:9119 e entrar na aba Chat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472F31B-4356-42EB-8F1B-246C0D43C24E}"/>
              </a:ext>
            </a:extLst>
          </p:cNvPr>
          <p:cNvSpPr>
            <a:spLocks noGrp="1"/>
          </p:cNvSpPr>
          <p:nvPr/>
        </p:nvSpPr>
        <p:spPr>
          <a:xfrm>
            <a:off x="1371600" y="553212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50">
                <a:solidFill>
                  <a:srgbClr val="0B1D24"/>
                </a:solidFill>
              </a:rPr>
              <a:t>A apresentadora cola um prompt por vez. O Hermes cria, testa e explica. O aluno aprende acompanhando.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E005C95-8B88-411C-A42F-D87E41E3830F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6D7A80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273454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A25DB6-163C-45D0-B0D5-42BEFFBDD9A4}"/>
              </a:ext>
            </a:extLst>
          </p:cNvPr>
          <p:cNvSpPr>
            <a:spLocks noGrp="1"/>
          </p:cNvSpPr>
          <p:nvPr/>
        </p:nvSpPr>
        <p:spPr>
          <a:xfrm>
            <a:off x="685800" y="38404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E6AC22"/>
                </a:solidFill>
                <a:latin typeface="Aptos"/>
                <a:ea typeface="Aptos"/>
                <a:cs typeface="Aptos"/>
              </a:rPr>
              <a:t>CURSO PRÁTICO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038E08-9D8D-4BC2-9B31-6BC5D022C2A0}"/>
              </a:ext>
            </a:extLst>
          </p:cNvPr>
          <p:cNvSpPr>
            <a:spLocks noGrp="1"/>
          </p:cNvSpPr>
          <p:nvPr/>
        </p:nvSpPr>
        <p:spPr>
          <a:xfrm>
            <a:off x="685800" y="65836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B1D24"/>
                </a:solidFill>
                <a:latin typeface="Aptos Display"/>
                <a:ea typeface="Aptos Display"/>
                <a:cs typeface="Aptos Display"/>
              </a:rPr>
              <a:t>O que precisa funcionar no final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1A210B-25A5-4C65-B46B-E305727DE2B3}"/>
              </a:ext>
            </a:extLst>
          </p:cNvPr>
          <p:cNvSpPr>
            <a:spLocks noGrp="1"/>
          </p:cNvSpPr>
          <p:nvPr/>
        </p:nvSpPr>
        <p:spPr>
          <a:xfrm>
            <a:off x="713232" y="1243584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6D7A80"/>
                </a:solidFill>
                <a:latin typeface="Aptos"/>
                <a:ea typeface="Aptos"/>
                <a:cs typeface="Aptos"/>
              </a:rPr>
              <a:t>Checklist para encerrar o curso com segurança.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CD6A8D-0FF6-439A-AB80-4332FD0AEB9E}"/>
              </a:ext>
            </a:extLst>
          </p:cNvPr>
          <p:cNvSpPr>
            <a:spLocks noGrp="1"/>
          </p:cNvSpPr>
          <p:nvPr/>
        </p:nvSpPr>
        <p:spPr>
          <a:xfrm>
            <a:off x="1051560" y="1965960"/>
            <a:ext cx="4846320" cy="18745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1580">
                <a:solidFill>
                  <a:srgbClr val="0B1D24"/>
                </a:solidFill>
              </a:rPr>
              <a:t>☐ Dashboard abriu localmente</a:t>
            </a:r>
          </a:p>
          <a:p>
            <a:pPr marL="0" indent="0">
              <a:buNone/>
            </a:pPr>
            <a:r>
              <a:rPr sz="1580">
                <a:solidFill>
                  <a:srgbClr val="0B1D24"/>
                </a:solidFill>
              </a:rPr>
              <a:t>☐ Fluxo manual funciona</a:t>
            </a:r>
          </a:p>
          <a:p>
            <a:pPr marL="0" indent="0">
              <a:buNone/>
            </a:pPr>
            <a:r>
              <a:rPr sz="1580">
                <a:solidFill>
                  <a:srgbClr val="0B1D24"/>
                </a:solidFill>
              </a:rPr>
              <a:t>☐ Projetos e tarefas salvam no navegador</a:t>
            </a:r>
          </a:p>
          <a:p>
            <a:pPr marL="0" indent="0">
              <a:buNone/>
            </a:pPr>
            <a:r>
              <a:rPr sz="1580">
                <a:solidFill>
                  <a:srgbClr val="0B1D24"/>
                </a:solidFill>
              </a:rPr>
              <a:t>☐ Backup exporta e restaura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85F438-9B88-488D-906F-BA04164D1C4A}"/>
              </a:ext>
            </a:extLst>
          </p:cNvPr>
          <p:cNvSpPr>
            <a:spLocks noGrp="1"/>
          </p:cNvSpPr>
          <p:nvPr/>
        </p:nvSpPr>
        <p:spPr>
          <a:xfrm>
            <a:off x="6400800" y="1965960"/>
            <a:ext cx="4846320" cy="18745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1580">
                <a:solidFill>
                  <a:srgbClr val="0B1D24"/>
                </a:solidFill>
              </a:rPr>
              <a:t>☐ IA é opcional</a:t>
            </a:r>
          </a:p>
          <a:p>
            <a:pPr marL="0" indent="0">
              <a:buNone/>
            </a:pPr>
            <a:r>
              <a:rPr sz="1580">
                <a:solidFill>
                  <a:srgbClr val="0B1D24"/>
                </a:solidFill>
              </a:rPr>
              <a:t>☐ Ollama recebe só campos necessários</a:t>
            </a:r>
          </a:p>
          <a:p>
            <a:pPr marL="0" indent="0">
              <a:buNone/>
            </a:pPr>
            <a:r>
              <a:rPr sz="1580">
                <a:solidFill>
                  <a:srgbClr val="0B1D24"/>
                </a:solidFill>
              </a:rPr>
              <a:t>☐ Sugestão exige confirmação humana</a:t>
            </a:r>
          </a:p>
          <a:p>
            <a:pPr marL="0" indent="0">
              <a:buNone/>
            </a:pPr>
            <a:r>
              <a:rPr sz="1580">
                <a:solidFill>
                  <a:srgbClr val="0B1D24"/>
                </a:solidFill>
              </a:rPr>
              <a:t>☐ Nenhuma publicação foi realizada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531D10-DA75-4069-9FFA-041D18D9F478}"/>
              </a:ext>
            </a:extLst>
          </p:cNvPr>
          <p:cNvSpPr>
            <a:spLocks noGrp="1"/>
          </p:cNvSpPr>
          <p:nvPr/>
        </p:nvSpPr>
        <p:spPr>
          <a:xfrm>
            <a:off x="6080760" y="1828800"/>
            <a:ext cx="0" cy="2240280"/>
          </a:xfrm>
          <a:prstGeom prst="line">
            <a:avLst/>
          </a:prstGeom>
          <a:noFill/>
          <a:ln w="19050">
            <a:solidFill>
              <a:srgbClr val="D9E5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135FA8B-BE06-4D56-BD54-002D24675C1E}"/>
              </a:ext>
            </a:extLst>
          </p:cNvPr>
          <p:cNvSpPr>
            <a:spLocks noGrp="1"/>
          </p:cNvSpPr>
          <p:nvPr/>
        </p:nvSpPr>
        <p:spPr>
          <a:xfrm>
            <a:off x="3886200" y="4617720"/>
            <a:ext cx="4480560" cy="347472"/>
          </a:xfrm>
          <a:prstGeom prst="rect">
            <a:avLst/>
          </a:prstGeom>
          <a:solidFill>
            <a:srgbClr val="E6AC22"/>
          </a:solidFill>
          <a:ln>
            <a:solidFill>
              <a:srgbClr val="E6AC22"/>
            </a:solidFill>
          </a:ln>
        </p:spPr>
        <p:txBody>
          <a:bodyPr wrap="square" lIns="508" tIns="508" rIns="508" bIns="508" anchor="ctr"/>
          <a:lstStyle/>
          <a:p>
            <a:pPr marL="0" indent="0" algn="ctr">
              <a:buNone/>
            </a:pPr>
            <a:r>
              <a:rPr sz="1250" b="1">
                <a:solidFill>
                  <a:srgbClr val="0B1D24"/>
                </a:solidFill>
              </a:rPr>
              <a:t>A aplicação continua útil mesmo sem IA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DC95498-7B42-4A03-8ACF-B769DCFF3B91}"/>
              </a:ext>
            </a:extLst>
          </p:cNvPr>
          <p:cNvSpPr>
            <a:spLocks noGrp="1"/>
          </p:cNvSpPr>
          <p:nvPr/>
        </p:nvSpPr>
        <p:spPr>
          <a:xfrm>
            <a:off x="1645920" y="5285232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F8F9D"/>
                </a:solidFill>
              </a:rPr>
              <a:t>Esse é o ponto-chave: o aluno sai com um projeto real, local e revisável.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7399FD-FD20-47FE-8287-BAC11F1C0E19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6D7A80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1475451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94360"/>
            <a:ext cx="1508760" cy="150876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5A24325-AC16-40EE-8406-FB29A0CFF273}"/>
              </a:ext>
            </a:extLst>
          </p:cNvPr>
          <p:cNvSpPr>
            <a:spLocks noGrp="1"/>
          </p:cNvSpPr>
          <p:nvPr/>
        </p:nvSpPr>
        <p:spPr>
          <a:xfrm>
            <a:off x="3063240" y="114300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600" b="1">
                <a:solidFill>
                  <a:srgbClr val="FFFFFF"/>
                </a:solidFill>
              </a:rPr>
              <a:t>Pronto para usar sozinho(a)?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FD50859-3582-406F-8C65-6486FB7EE6D5}"/>
              </a:ext>
            </a:extLst>
          </p:cNvPr>
          <p:cNvSpPr>
            <a:spLocks noGrp="1"/>
          </p:cNvSpPr>
          <p:nvPr/>
        </p:nvSpPr>
        <p:spPr>
          <a:xfrm>
            <a:off x="1828800" y="2971800"/>
            <a:ext cx="8595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buNone/>
            </a:pPr>
            <a:r>
              <a:rPr sz="2000">
                <a:solidFill>
                  <a:srgbClr val="FFC000"/>
                </a:solidFill>
              </a:rPr>
              <a:t>Depois destas aulas, o agente deixa de ser uma ideia abstrata e se torna uma ferramenta que você sabe controlar. Parabéns por concluir este minicurso.</a:t>
            </a:r>
          </a:p>
        </p:txBody>
      </p:sp>
      <p:pic>
        <p:nvPicPr>
          <p:cNvPr id="13" name="Image 1"/>
          <p:cNvPicPr>
            <a:picLocks noChangeAspect="1"/>
          </p:cNvPicPr>
          <p:nvPr/>
        </p:nvPicPr>
        <p:blipFill>
          <a:blip r:embed="rId4"/>
          <a:srcRect t="10377" b="10377"/>
          <a:stretch/>
        </p:blipFill>
        <p:spPr>
          <a:xfrm>
            <a:off x="4892040" y="3886200"/>
            <a:ext cx="2423160" cy="192024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B2279BCF-D533-4EEC-A513-A717C0C64EFE}"/>
              </a:ext>
            </a:extLst>
          </p:cNvPr>
          <p:cNvSpPr>
            <a:spLocks noGrp="1"/>
          </p:cNvSpPr>
          <p:nvPr/>
        </p:nvSpPr>
        <p:spPr>
          <a:xfrm>
            <a:off x="640080" y="651052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80">
                <a:solidFill>
                  <a:srgbClr val="B9C4C7"/>
                </a:solidFill>
                <a:latin typeface="Aptos"/>
                <a:ea typeface="Aptos"/>
                <a:cs typeface="Aptos"/>
              </a:rPr>
              <a:t>Hermes Agent no WSL2 · Café com Dados &amp; Gatos · Edição 2026</a:t>
            </a:r>
          </a:p>
        </p:txBody>
      </p:sp>
    </p:spTree>
    <p:extLst>
      <p:ext uri="{BB962C8B-B14F-4D97-AF65-F5344CB8AC3E}">
        <p14:creationId xmlns:p14="http://schemas.microsoft.com/office/powerpoint/2010/main" val="1743454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1292</Words>
  <Application>Microsoft Office PowerPoint</Application>
  <DocSecurity>0</DocSecurity>
  <PresentationFormat>Widescreen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Cascadia Mono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Denise Marti</cp:lastModifiedBy>
  <cp:revision>1</cp:revision>
  <dcterms:created xsi:type="dcterms:W3CDTF">2026-08-04T15:00:38Z</dcterms:created>
  <dcterms:modified xsi:type="dcterms:W3CDTF">2026-08-04T18:10:22Z</dcterms:modified>
</cp:coreProperties>
</file>