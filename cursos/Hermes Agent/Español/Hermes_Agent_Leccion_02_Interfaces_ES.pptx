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233"/>
                </a:solidFill>
              </a:rPr>
              <a:t>CLASE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Curso de Hermes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B233"/>
                </a:solidFill>
              </a:rPr>
              <a:t>Conociendo Hermes Agent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Comprender las interfaces principales y los recursos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de Desktop y Dashboard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92240" y="109728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132532"/>
          </a:solidFill>
          <a:ln w="19050">
            <a:solidFill>
              <a:srgbClr val="25D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Hermes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2011680"/>
            <a:ext cx="1828800" cy="457200"/>
          </a:xfrm>
          <a:prstGeom prst="roundRect">
            <a:avLst/>
          </a:prstGeom>
          <a:solidFill>
            <a:srgbClr val="174650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3448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20116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6568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Sesiones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26974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2807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Config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6974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807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3832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34930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Memoria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33832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6568" y="34930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40690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41788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Gateway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233"/>
                </a:solidFill>
              </a:rPr>
              <a:t>Coffee with Data &amp; Cats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320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5D7E8"/>
                </a:solidFill>
              </a:rPr>
              <a:t>CLI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919472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59552" y="320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233"/>
                </a:solidFill>
              </a:rPr>
              <a:t>TUI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03520" cy="4389120"/>
          </a:xfrm>
          <a:prstGeom prst="roundRect">
            <a:avLst/>
          </a:prstGeom>
          <a:solidFill>
            <a:srgbClr val="0B1015"/>
          </a:solidFill>
          <a:ln w="19050">
            <a:solidFill>
              <a:srgbClr val="25D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841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7E8"/>
                </a:solidFill>
              </a:rPr>
              <a:t>CLI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44805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hermes status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hermes status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user: 1708721511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tasks: OK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gateway: running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models: loaded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983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Escribes comandos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327648" y="1280160"/>
            <a:ext cx="5303520" cy="4389120"/>
          </a:xfrm>
          <a:prstGeom prst="roundRect">
            <a:avLst/>
          </a:prstGeom>
          <a:solidFill>
            <a:srgbClr val="0B1015"/>
          </a:solidFill>
          <a:ln w="19050">
            <a:solidFill>
              <a:srgbClr val="F2B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841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233"/>
                </a:solidFill>
              </a:rPr>
              <a:t>TUI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178308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Hermes Agent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Dashboard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Tareas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Ajustes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Ayuda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0" y="1828800"/>
            <a:ext cx="23317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Status: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Gateway: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001 - Recolección     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002 - Análisis        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003 - Informe       PENDING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4983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Navegas por pantallas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49040" y="5989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Ambas funcionan en la terminal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directa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25880"/>
          <a:ext cx="10698480" cy="443484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Componente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Qué es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Mejor uso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Fortaleza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Limitación principal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Desktop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Aplicación nativa con interfaz gráfica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Chat, trabajo con archivos y seguimiento de tareas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Experiencia integrada: chat visual, vistas previas, archivos y voz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Depende de una aplicación instalada y tiene opciones propias de interfaz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Dashboard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Panel administrativo en el navegador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Configurar, monitorear, auditar y administrar Hermes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Visión amplia de sesiones, logs, analytics, cron, Profiles, MCPs y canales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El chat es una TUI incrustada; Windows nativo puede requerir WSL2 para esta pestaña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CLI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Comandos ejecutados en la terminal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Instalar, configurar, automatizar y administrar por comando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Control total, scripts y automatización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Requiere familiaridad con la terminal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TUI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Interfaz interactiva dentro de la terminal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Conversar con el agente sin salir de la terminal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Rápida, ligera y cercana al flujo de desarrollo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Menos visual que Desktop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Gateway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Proceso continuo de mensajería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Mantener el agente disponible en Telegram, Discord, Slack, etc.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Servicio multicanal continuo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No sustituye Dashboard, Desktop ni el proveedor del modelo</a:t>
                      </a:r>
                      <a:endParaRPr lang="en-US" sz="980" dirty="0"/>
                    </a:p>
                  </a:txBody>
                  <a:tcPr marL="41148" marR="41148" marT="41148" marB="41148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0"/>
                </a:solidFill>
              </a:rPr>
              <a:t>Café com Dados &amp; Gatos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 versus Dashboard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325880"/>
          <a:ext cx="10469880" cy="4526280"/>
        </p:xfrm>
        <a:graphic>
          <a:graphicData uri="http://schemas.openxmlformats.org/drawingml/2006/table">
            <a:tbl>
              <a:tblPr/>
              <a:tblGrid>
                <a:gridCol w="3489960"/>
                <a:gridCol w="3489960"/>
                <a:gridCol w="3489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Pregunta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Desktop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Dashboard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Dónde se ejecuta?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Aplicación nativa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Navegador + servidor local/remoto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Enfoque principal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Uso diario y ejecución de tareas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Administración y observabilidad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Chat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Interfaz gráfica nativa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TUI incrustada en el navegador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Archivos y vistas previas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Experiencia integrada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Menor enfoque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Sesiones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Conversar, retomar y organizar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Inspeccionar, buscar, exportar y administrar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Logs y métricas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Recursos de diagnóstico más puntuales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Logs y analytics centralizados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Configuración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Organizada para el uso diario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Exposición amplia de config.yaml y .env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Múltiples Profiles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Conversaciones simultáneas y cambio de Profile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Administración centralizada con selector de Profile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Cron y canales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Gestión disponible en versiones actuales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Panel administrativo detallado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Extensiones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SDK de plugins de Desktop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7313A"/>
                          </a:solidFill>
                        </a:rPr>
                        <a:t>Temas, plugins de UI y plugins de backend</a:t>
                      </a:r>
                      <a:endParaRPr lang="en-US" sz="980" dirty="0"/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0"/>
                </a:solidFill>
              </a:rPr>
              <a:t>Café com Dados &amp; Gatos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1520"/>
            <a:ext cx="10835640" cy="521208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2331720"/>
            <a:ext cx="2194560" cy="2194560"/>
          </a:xfrm>
          <a:prstGeom prst="ellipse">
            <a:avLst/>
          </a:prstGeom>
          <a:solidFill>
            <a:srgbClr val="0D4B4A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5780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HERMES AGENT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el mismo núcleo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271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DESKTOP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36A70"/>
                </a:solidFill>
              </a:rPr>
              <a:t>Trabajo diario integrado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8641080" y="11430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271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36A70"/>
                </a:solidFill>
              </a:rPr>
              <a:t>Sitio administrativo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097280" y="43434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471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CLI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818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36A70"/>
                </a:solidFill>
              </a:rPr>
              <a:t>Comandos reproducibles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641080" y="43434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4471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TUI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0" y="4818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36A70"/>
                </a:solidFill>
              </a:rPr>
              <a:t>Chat en la terminal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49640" y="27432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MESSAGING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GATEWAY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3218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36A70"/>
                </a:solidFill>
              </a:rPr>
              <a:t>Canales continuos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286000" y="55961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A"/>
                </a:solidFill>
              </a:rPr>
              <a:t>Mismo Profile: configuración, memoria, skills y sesiones compartidas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201400" cy="59436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31520"/>
            <a:ext cx="2286000" cy="320040"/>
          </a:xfrm>
          <a:prstGeom prst="rect">
            <a:avLst/>
          </a:prstGeom>
          <a:solidFill>
            <a:srgbClr val="0D4B4A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233"/>
                </a:solidFill>
              </a:rPr>
              <a:t>EN LA CLASE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</a:rPr>
              <a:t>Hermes avanzado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13A"/>
                </a:solidFill>
              </a:rPr>
              <a:t>Profiles, memoria externa, OpenViking y grafos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13A"/>
                </a:solidFill>
              </a:rPr>
              <a:t>Memorias separadas. Conocimiento compartido. Contexto bajo control.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13A"/>
                </a:solidFill>
              </a:rPr>
              <a:t>PROFILE PRINCIPAL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36667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Profile principal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324612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13A"/>
                </a:solidFill>
              </a:rPr>
              <a:t>MEMORIA PERSONAL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36667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del Profile principal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457200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690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13A"/>
                </a:solidFill>
              </a:rPr>
              <a:t>PROFILE ESTUDIANTE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4992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Profile estudiante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457200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690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13A"/>
                </a:solidFill>
              </a:rPr>
              <a:t>MEMORIA PERSONAL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4992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del estudiante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3611880"/>
            <a:ext cx="1920240" cy="1920240"/>
          </a:xfrm>
          <a:prstGeom prst="ellipse">
            <a:avLst/>
          </a:prstGeom>
          <a:solidFill>
            <a:srgbClr val="0D4B4A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3931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OPENVIKING</a:t>
            </a:r>
            <a:endParaRPr lang="en-US" sz="1550" dirty="0"/>
          </a:p>
          <a:p>
            <a:pPr algn="ctr" indent="0" marL="0">
              <a:buNone/>
            </a:pP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BASE DE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CONOCIMIENTO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464040" y="3886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13A"/>
                </a:solidFill>
              </a:rPr>
              <a:t>Conceptos • teoría • artículos • autores • métodos • eventos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3611880"/>
            <a:ext cx="822960" cy="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4937760"/>
            <a:ext cx="822960" cy="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3611880"/>
            <a:ext cx="685800" cy="54864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4937760"/>
            <a:ext cx="685800" cy="4572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4572000"/>
            <a:ext cx="365760" cy="-13716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13A"/>
                </a:solidFill>
              </a:rPr>
              <a:t>Nota de traducción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13A"/>
                </a:solidFill>
              </a:rPr>
              <a:t>Contenido traducido del portugués al español mediante IA.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0"/>
                </a:solidFill>
              </a:rPr>
              <a:t>Café com Dados &amp; Gatos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Course - Lesson 02 ES</dc:title>
  <dc:subject>Spanish translation</dc:subject>
  <dc:creator>OpenAI</dc:creator>
  <cp:lastModifiedBy>OpenAI</cp:lastModifiedBy>
  <cp:revision>1</cp:revision>
  <dcterms:created xsi:type="dcterms:W3CDTF">2026-08-20T17:30:52Z</dcterms:created>
  <dcterms:modified xsi:type="dcterms:W3CDTF">2026-08-20T17:30:52Z</dcterms:modified>
</cp:coreProperties>
</file>