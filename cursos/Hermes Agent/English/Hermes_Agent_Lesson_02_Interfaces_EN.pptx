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233"/>
                </a:solidFill>
              </a:rPr>
              <a:t>LESSON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Hermes Agent Course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2B233"/>
                </a:solidFill>
              </a:rPr>
              <a:t>Getting to know Hermes Agent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Understanding the main interfaces and resources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of Desktop and Dashboard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92240" y="1097280"/>
            <a:ext cx="5029200" cy="4389120"/>
          </a:xfrm>
          <a:prstGeom prst="roundRect">
            <a:avLst>
              <a:gd name="adj" fmla="val 1667"/>
            </a:avLst>
          </a:prstGeom>
          <a:solidFill>
            <a:srgbClr val="132532"/>
          </a:solidFill>
          <a:ln w="19050">
            <a:solidFill>
              <a:srgbClr val="25D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Hermes Agent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03720" y="2011680"/>
            <a:ext cx="1828800" cy="457200"/>
          </a:xfrm>
          <a:prstGeom prst="roundRect">
            <a:avLst/>
          </a:prstGeom>
          <a:solidFill>
            <a:srgbClr val="174650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13448" y="21214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06840" y="2011680"/>
            <a:ext cx="1828800" cy="457200"/>
          </a:xfrm>
          <a:prstGeom prst="roundRect">
            <a:avLst/>
          </a:prstGeom>
          <a:solidFill>
            <a:srgbClr val="1B303D"/>
          </a:solidFill>
          <a:ln w="12700">
            <a:solidFill>
              <a:srgbClr val="3558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16568" y="21214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Sessions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2697480"/>
            <a:ext cx="1828800" cy="457200"/>
          </a:xfrm>
          <a:prstGeom prst="roundRect">
            <a:avLst/>
          </a:prstGeom>
          <a:solidFill>
            <a:srgbClr val="1B303D"/>
          </a:solidFill>
          <a:ln w="12700">
            <a:solidFill>
              <a:srgbClr val="3558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13448" y="28072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Config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2697480"/>
            <a:ext cx="1828800" cy="457200"/>
          </a:xfrm>
          <a:prstGeom prst="roundRect">
            <a:avLst/>
          </a:prstGeom>
          <a:solidFill>
            <a:srgbClr val="1B303D"/>
          </a:solidFill>
          <a:ln w="12700">
            <a:solidFill>
              <a:srgbClr val="3558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6568" y="28072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Skills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3383280"/>
            <a:ext cx="1828800" cy="457200"/>
          </a:xfrm>
          <a:prstGeom prst="roundRect">
            <a:avLst/>
          </a:prstGeom>
          <a:solidFill>
            <a:srgbClr val="1B303D"/>
          </a:solidFill>
          <a:ln w="12700">
            <a:solidFill>
              <a:srgbClr val="3558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3448" y="34930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Memory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06840" y="3383280"/>
            <a:ext cx="1828800" cy="457200"/>
          </a:xfrm>
          <a:prstGeom prst="roundRect">
            <a:avLst/>
          </a:prstGeom>
          <a:solidFill>
            <a:srgbClr val="1B303D"/>
          </a:solidFill>
          <a:ln w="12700">
            <a:solidFill>
              <a:srgbClr val="3558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16568" y="34930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4069080"/>
            <a:ext cx="1828800" cy="457200"/>
          </a:xfrm>
          <a:prstGeom prst="roundRect">
            <a:avLst/>
          </a:prstGeom>
          <a:solidFill>
            <a:srgbClr val="1B303D"/>
          </a:solidFill>
          <a:ln w="12700">
            <a:solidFill>
              <a:srgbClr val="3558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41788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Gateway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233"/>
                </a:solidFill>
              </a:rPr>
              <a:t>Coffee with Data &amp; Cats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0" y="320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5D7E8"/>
                </a:solidFill>
              </a:rPr>
              <a:t>CLI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919472" y="320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×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59552" y="320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B233"/>
                </a:solidFill>
              </a:rPr>
              <a:t>TUI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03520" cy="4389120"/>
          </a:xfrm>
          <a:prstGeom prst="roundRect">
            <a:avLst/>
          </a:prstGeom>
          <a:solidFill>
            <a:srgbClr val="0B1015"/>
          </a:solidFill>
          <a:ln w="19050">
            <a:solidFill>
              <a:srgbClr val="25D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23160" y="960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D7E8"/>
                </a:solidFill>
              </a:rPr>
              <a:t>CLI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448056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$ hermes status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hermes status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user: 1708721511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tasks: OK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gateway: running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models: loaded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4983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You type commands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327648" y="1280160"/>
            <a:ext cx="5303520" cy="4389120"/>
          </a:xfrm>
          <a:prstGeom prst="roundRect">
            <a:avLst/>
          </a:prstGeom>
          <a:solidFill>
            <a:srgbClr val="0B1015"/>
          </a:solidFill>
          <a:ln w="19050">
            <a:solidFill>
              <a:srgbClr val="F2B2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960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233"/>
                </a:solidFill>
              </a:rPr>
              <a:t>TUI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12280" y="1828800"/>
            <a:ext cx="201168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Hermes Agent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Dashboard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Tasks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Gateway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Settings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Help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32520" y="1828800"/>
            <a:ext cx="246888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Status: RUNNING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Gateway: running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Tasks: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001 - Data collection  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002 - Analysis         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003 - Report        PENDING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4983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You navigate through screens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749040" y="5989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Both run in the terminal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 comparison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325880"/>
          <a:ext cx="10698480" cy="443484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What it is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Best use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Strength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Main limitation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Desktop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Native app with a graphical interface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Chat, work with files, and follow tasks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Integrated experience: visual chat, previews, files, and voice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Depends on an installed app and has its own UI options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Dashboard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Administrative panel in the browser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Configure, monitor, audit, and administer Hermes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Broad view of sessions, logs, analytics, cron, Profiles, MCPs, and channels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Chat is an embedded TUI; native Windows may require WSL2 for this tab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CLI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Commands executed in the terminal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Install, configure, automate, and administer by command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Full control, scripts, and automation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Requires terminal familiarity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TUI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Interactive interface inside the terminal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Chat with the agent without leaving the terminal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Fast, lightweight, close to the development flow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Less visual than Desktop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Gateway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Continuous messaging process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Keep the agent available on Telegram, Discord, Slack, etc.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Continuous multichannel service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13A"/>
                          </a:solidFill>
                        </a:rPr>
                        <a:t>Does not replace Dashboard, Desktop, or the model provider</a:t>
                      </a:r>
                      <a:endParaRPr lang="en-US" sz="1100" dirty="0"/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CB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0"/>
                </a:solidFill>
              </a:rPr>
              <a:t>Café com Dados &amp; Gatos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1064240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 versus Dashboard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325880"/>
          <a:ext cx="10469880" cy="4526280"/>
        </p:xfrm>
        <a:graphic>
          <a:graphicData uri="http://schemas.openxmlformats.org/drawingml/2006/table">
            <a:tbl>
              <a:tblPr/>
              <a:tblGrid>
                <a:gridCol w="3489960"/>
                <a:gridCol w="3489960"/>
                <a:gridCol w="3489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Question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Desktop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Dashboard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Where does it run?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Native application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Browser + local/remote server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Main focus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Daily use and task execution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Administration and observability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Chat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Native graphical interface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TUI embedded in the browser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Files and previews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Integrated experience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Lower focus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Sessions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Chat, resume, and organize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Inspect, search, export, and administer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Logs and metrics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More targeted diagnostic resources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Centralized logs and analytics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Configuration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Organized for daily use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Broad exposure of config.yaml and .env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Multiple Profiles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Simultaneous conversations and Profile switching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Centralized administration with Profile selector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Cron and channels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Management available in current versions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Detailed administrative panel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Extensions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Desktop plugin SDK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13A"/>
                          </a:solidFill>
                        </a:rPr>
                        <a:t>Themes, UI plugins, and backend plugins</a:t>
                      </a:r>
                      <a:endParaRPr lang="en-US" sz="1050" dirty="0"/>
                    </a:p>
                  </a:txBody>
                  <a:tcPr marL="45720" marR="45720" marT="45720" marB="45720">
                    <a:lnL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9C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0"/>
                </a:solidFill>
              </a:rPr>
              <a:t>Café com Dados &amp; Gatos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1520"/>
            <a:ext cx="10835640" cy="521208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3480" y="2331720"/>
            <a:ext cx="2194560" cy="2194560"/>
          </a:xfrm>
          <a:prstGeom prst="ellipse">
            <a:avLst/>
          </a:prstGeom>
          <a:solidFill>
            <a:srgbClr val="0D4B4A"/>
          </a:solidFill>
          <a:ln w="25400">
            <a:solidFill>
              <a:srgbClr val="F2B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57800" y="2743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HERMES AGENT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same core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1143000"/>
            <a:ext cx="21945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4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271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DESKTOP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184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A70"/>
                </a:solidFill>
              </a:rPr>
              <a:t>Integrated daily work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89904" y="3337560"/>
            <a:ext cx="-3895344" cy="-1737360"/>
          </a:xfrm>
          <a:prstGeom prst="line">
            <a:avLst/>
          </a:prstGeom>
          <a:noFill/>
          <a:ln w="15240">
            <a:solidFill>
              <a:srgbClr val="688E9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41080" y="1143000"/>
            <a:ext cx="21945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4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1271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78240" y="16184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A70"/>
                </a:solidFill>
              </a:rPr>
              <a:t>Admin site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9904" y="3337560"/>
            <a:ext cx="3648456" cy="-1737360"/>
          </a:xfrm>
          <a:prstGeom prst="line">
            <a:avLst/>
          </a:prstGeom>
          <a:noFill/>
          <a:ln w="15240">
            <a:solidFill>
              <a:srgbClr val="688E9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97280" y="4343400"/>
            <a:ext cx="21945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4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471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CLI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8188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A70"/>
                </a:solidFill>
              </a:rPr>
              <a:t>Reproducible commands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9904" y="3337560"/>
            <a:ext cx="-3895344" cy="1463040"/>
          </a:xfrm>
          <a:prstGeom prst="line">
            <a:avLst/>
          </a:prstGeom>
          <a:noFill/>
          <a:ln w="15240">
            <a:solidFill>
              <a:srgbClr val="688E9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41080" y="4343400"/>
            <a:ext cx="21945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4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4471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TUI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78240" y="48188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A70"/>
                </a:solidFill>
              </a:rPr>
              <a:t>Terminal chat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9904" y="3337560"/>
            <a:ext cx="3648456" cy="1463040"/>
          </a:xfrm>
          <a:prstGeom prst="line">
            <a:avLst/>
          </a:prstGeom>
          <a:noFill/>
          <a:ln w="15240">
            <a:solidFill>
              <a:srgbClr val="688E9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49640" y="2743200"/>
            <a:ext cx="21945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4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MESSAGING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GATEWAY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0" y="3218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A70"/>
                </a:solidFill>
              </a:rPr>
              <a:t>Continuous channels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9904" y="3337560"/>
            <a:ext cx="3557016" cy="-137160"/>
          </a:xfrm>
          <a:prstGeom prst="line">
            <a:avLst/>
          </a:prstGeom>
          <a:noFill/>
          <a:ln w="15240">
            <a:solidFill>
              <a:srgbClr val="688E9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743200" y="559612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13A"/>
                </a:solidFill>
              </a:rPr>
              <a:t>Same Profile: shared configuration, memory, skills, and sessions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201400" cy="59436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31520"/>
            <a:ext cx="2011680" cy="320040"/>
          </a:xfrm>
          <a:prstGeom prst="rect">
            <a:avLst/>
          </a:prstGeom>
          <a:solidFill>
            <a:srgbClr val="0D4B4A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233"/>
                </a:solidFill>
              </a:rPr>
              <a:t>IN LESSON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13258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13A"/>
                </a:solidFill>
              </a:rPr>
              <a:t>Advanced Hermes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43000" y="19659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313A"/>
                </a:solidFill>
              </a:rPr>
              <a:t>Profiles, external memory, OpenViking, and graphs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13A"/>
                </a:solidFill>
              </a:rPr>
              <a:t>Separate memories. Shared knowledge. Context under control.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3246120"/>
            <a:ext cx="22402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13A"/>
                </a:solidFill>
              </a:rPr>
              <a:t>MAIN PROFILE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6667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0"/>
                </a:solidFill>
              </a:rPr>
              <a:t>Main Profile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3246120"/>
            <a:ext cx="22402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4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13A"/>
                </a:solidFill>
              </a:rPr>
              <a:t>PERSONAL MEMORY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36667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0"/>
                </a:solidFill>
              </a:rPr>
              <a:t>of the main Profile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4572000"/>
            <a:ext cx="22402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4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4690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13A"/>
                </a:solidFill>
              </a:rPr>
              <a:t>STUDENT PROFILE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9926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0"/>
                </a:solidFill>
              </a:rPr>
              <a:t>Student Profile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4572000"/>
            <a:ext cx="22402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4690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13A"/>
                </a:solidFill>
              </a:rPr>
              <a:t>PERSONAL MEMORY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49926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0"/>
                </a:solidFill>
              </a:rPr>
              <a:t>of the student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78040" y="3611880"/>
            <a:ext cx="1920240" cy="1920240"/>
          </a:xfrm>
          <a:prstGeom prst="ellipse">
            <a:avLst/>
          </a:prstGeom>
          <a:solidFill>
            <a:srgbClr val="0D4B4A"/>
          </a:solidFill>
          <a:ln w="25400">
            <a:solidFill>
              <a:srgbClr val="F2B2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3931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OPENVIKING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SHARED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KNOWLEDGE BASE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64040" y="38862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13A"/>
                </a:solidFill>
              </a:rPr>
              <a:t>Concepts • theory • articles • authors • methods • events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29000" y="3611880"/>
            <a:ext cx="822960" cy="0"/>
          </a:xfrm>
          <a:prstGeom prst="line">
            <a:avLst/>
          </a:prstGeom>
          <a:noFill/>
          <a:ln w="19050">
            <a:solidFill>
              <a:srgbClr val="0D4B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29000" y="4937760"/>
            <a:ext cx="822960" cy="0"/>
          </a:xfrm>
          <a:prstGeom prst="line">
            <a:avLst/>
          </a:prstGeom>
          <a:noFill/>
          <a:ln w="19050">
            <a:solidFill>
              <a:srgbClr val="0D4B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92240" y="3611880"/>
            <a:ext cx="685800" cy="548640"/>
          </a:xfrm>
          <a:prstGeom prst="line">
            <a:avLst/>
          </a:prstGeom>
          <a:noFill/>
          <a:ln w="19050">
            <a:solidFill>
              <a:srgbClr val="0D4B4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4937760"/>
            <a:ext cx="685800" cy="45720"/>
          </a:xfrm>
          <a:prstGeom prst="line">
            <a:avLst/>
          </a:prstGeom>
          <a:noFill/>
          <a:ln w="19050">
            <a:solidFill>
              <a:srgbClr val="0D4B4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98280" y="4572000"/>
            <a:ext cx="365760" cy="-137160"/>
          </a:xfrm>
          <a:prstGeom prst="line">
            <a:avLst/>
          </a:prstGeom>
          <a:noFill/>
          <a:ln w="19050">
            <a:solidFill>
              <a:srgbClr val="0D4B4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13A"/>
                </a:solidFill>
              </a:rPr>
              <a:t>Translation note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3154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13A"/>
                </a:solidFill>
              </a:rPr>
              <a:t>Content translated from Portuguese into English by AI.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80"/>
                </a:solidFill>
              </a:rPr>
              <a:t>Café com Dados &amp; Gatos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Agent Course - Lesson 02 EN</dc:title>
  <dc:subject>English translation</dc:subject>
  <dc:creator>OpenAI</dc:creator>
  <cp:lastModifiedBy>OpenAI</cp:lastModifiedBy>
  <cp:revision>1</cp:revision>
  <dcterms:created xsi:type="dcterms:W3CDTF">2026-08-20T17:17:05Z</dcterms:created>
  <dcterms:modified xsi:type="dcterms:W3CDTF">2026-08-20T17:17:05Z</dcterms:modified>
</cp:coreProperties>
</file>